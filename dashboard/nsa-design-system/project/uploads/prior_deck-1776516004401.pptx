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77" r:id="rId2"/>
    <p:sldId id="274" r:id="rId3"/>
    <p:sldId id="257" r:id="rId4"/>
    <p:sldId id="267" r:id="rId5"/>
    <p:sldId id="276" r:id="rId6"/>
    <p:sldId id="279" r:id="rId7"/>
    <p:sldId id="281" r:id="rId8"/>
    <p:sldId id="278" r:id="rId9"/>
    <p:sldId id="282" r:id="rId10"/>
    <p:sldId id="264" r:id="rId11"/>
    <p:sldId id="283" r:id="rId12"/>
  </p:sldIdLst>
  <p:sldSz cx="12192000" cy="6858000"/>
  <p:notesSz cx="6858000" cy="9144000"/>
  <p:embeddedFontLst>
    <p:embeddedFont>
      <p:font typeface="Noto Sans" panose="020B0502040504020204" pitchFamily="34" charset="0"/>
      <p:regular r:id="rId14"/>
      <p:bold r:id="rId15"/>
      <p:italic r:id="rId16"/>
      <p:boldItalic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Play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i4rBkig2uFwdNEecwkGBd0T5V6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A5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4BC87A-4086-4787-9F96-A8368DD7F030}">
  <a:tblStyle styleId="{4C4BC87A-4086-4787-9F96-A8368DD7F0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4660"/>
  </p:normalViewPr>
  <p:slideViewPr>
    <p:cSldViewPr snapToGrid="0">
      <p:cViewPr varScale="1">
        <p:scale>
          <a:sx n="70" d="100"/>
          <a:sy n="70" d="100"/>
        </p:scale>
        <p:origin x="136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divisão das áreas entre fazenda (precisamos aumentar rentabilidade da fazenda!!)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- 8400 total aberto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- 770 arrendado – 6.5sc/ha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- 4630 gado – 6sc/ha – 0,7UA/ha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- 3000 agricultura –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a) soja media (55-53) – 2sc/ha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b) capim: R$350 / ha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&gt;&gt;&gt; conclusão que estamos pouco rentáveis</a:t>
            </a:r>
            <a:endParaRPr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8604DF89-B481-484C-6467-F249FB2CB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B7B1DFF5-EA03-FDF1-2E05-E11A110399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11C80D44-F099-4689-C919-4653087EE0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divisão das áreas entre fazenda (precisamos aumentar rentabilidade da fazenda!!)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- 8400 total aberto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- 770 arrendado – 6.5sc/ha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- 4630 gado – 6sc/ha – 0,7UA/ha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- 3000 agricultura –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a) soja media (55-53) – 2sc/ha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b) capim: R$350 / ha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&gt;&gt;&gt; conclusão que estamos pouco rentáveis</a:t>
            </a: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52179CCD-D9E1-527C-AE58-97DAD93FF3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5876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58443C8F-BD32-EDD3-DD65-9695B343F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F15A3136-571E-8776-F363-054ACC82E3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1F05A9BA-59A6-0180-985D-F527C4552D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divisão das áreas entre fazenda (precisamos aumentar rentabilidade da fazenda!!)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- 8400 total aberto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- 770 arrendado – 6.5sc/ha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- 4630 gado – 6sc/ha – 0,7UA/ha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- 3000 agricultura –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a) soja media (55-53) – 2sc/ha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b) capim: R$350 / ha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&gt;&gt;&gt; conclusão que estamos pouco rentáveis</a:t>
            </a: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DF92C33A-BB82-44AF-DD70-00080F0515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12394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A365BB40-0BDE-20B4-3921-2392201CA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19A6959B-6017-E1A1-9CE6-92BA868E6A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9546EE01-DE2E-E8AF-4B13-BB529C751F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divisão das áreas entre fazenda (precisamos aumentar rentabilidade da fazenda!!)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- 8400 total aberto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- 770 arrendado – 6.5sc/ha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- 4630 gado – 6sc/ha – 0,7UA/ha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- 3000 agricultura –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a) soja media (55-53) – 2sc/ha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b) capim: R$350 / ha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&gt;&gt;&gt; conclusão que estamos pouco rentáveis</a:t>
            </a: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4FCC3A81-9A90-6180-8608-4F9062F6B6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814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110AEFF1-7145-1497-1D7E-3638C7E7A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F85E8D38-1F4C-1D3E-2307-FA8B4A30EF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8F2C2052-EA8C-5F32-D765-7BEB2B656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divisão das áreas entre fazenda (precisamos aumentar rentabilidade da fazenda!!)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- 8400 total aberto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- 770 arrendado – 6.5sc/ha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- 4630 gado – 6sc/ha – 0,7UA/ha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- 3000 agricultura –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a) soja media (55-53) – 2sc/ha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b) capim: R$350 / ha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&gt;&gt;&gt; conclusão que estamos pouco rentáveis</a:t>
            </a: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6707A533-0956-706F-6271-07EE8790BA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2453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9162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0441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bin"/><Relationship Id="rId3" Type="http://schemas.openxmlformats.org/officeDocument/2006/relationships/image" Target="../media/image2.bin"/><Relationship Id="rId7" Type="http://schemas.openxmlformats.org/officeDocument/2006/relationships/image" Target="../media/image6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bin"/><Relationship Id="rId5" Type="http://schemas.openxmlformats.org/officeDocument/2006/relationships/image" Target="../media/image4.bin"/><Relationship Id="rId4" Type="http://schemas.openxmlformats.org/officeDocument/2006/relationships/image" Target="../media/image3.bin"/><Relationship Id="rId9" Type="http://schemas.openxmlformats.org/officeDocument/2006/relationships/image" Target="../media/image8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334500" y="-952500"/>
            <a:ext cx="3810000" cy="3810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pt-BR" sz="1867"/>
          </a:p>
        </p:txBody>
      </p:sp>
      <p:sp>
        <p:nvSpPr>
          <p:cNvPr id="4" name="Shape 1"/>
          <p:cNvSpPr/>
          <p:nvPr/>
        </p:nvSpPr>
        <p:spPr>
          <a:xfrm>
            <a:off x="-952499" y="4953001"/>
            <a:ext cx="2857500" cy="28575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pt-BR" sz="1867"/>
          </a:p>
        </p:txBody>
      </p:sp>
      <p:sp>
        <p:nvSpPr>
          <p:cNvPr id="5" name="Shape 2"/>
          <p:cNvSpPr/>
          <p:nvPr/>
        </p:nvSpPr>
        <p:spPr>
          <a:xfrm>
            <a:off x="10763251" y="3429000"/>
            <a:ext cx="1905000" cy="1905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pt-BR" sz="1867"/>
          </a:p>
        </p:txBody>
      </p:sp>
      <p:sp>
        <p:nvSpPr>
          <p:cNvPr id="6" name="Text 3"/>
          <p:cNvSpPr/>
          <p:nvPr/>
        </p:nvSpPr>
        <p:spPr>
          <a:xfrm>
            <a:off x="884622" y="2473866"/>
            <a:ext cx="10422725" cy="5539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Resultado da Safra 2024/5 e </a:t>
            </a:r>
            <a:r>
              <a:rPr lang="en-US" sz="3600" b="1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próximos</a:t>
            </a:r>
            <a:r>
              <a:rPr lang="en-US" sz="3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passos</a:t>
            </a:r>
            <a:r>
              <a:rPr lang="en-US" sz="3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524500" y="3871690"/>
            <a:ext cx="1143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pt-BR" sz="1867"/>
          </a:p>
        </p:txBody>
      </p:sp>
      <p:sp>
        <p:nvSpPr>
          <p:cNvPr id="9" name="Text 6"/>
          <p:cNvSpPr/>
          <p:nvPr/>
        </p:nvSpPr>
        <p:spPr>
          <a:xfrm>
            <a:off x="3717945" y="4171340"/>
            <a:ext cx="4756109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8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Análise Financeira e Estratégias para 2025/6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1" y="377308"/>
            <a:ext cx="652582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400" b="1" dirty="0">
                <a:solidFill>
                  <a:srgbClr val="2E8B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Resultado Financeiro - Safra 2024/5 (Geral)</a:t>
            </a:r>
            <a:endParaRPr lang="en-US" sz="24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4685435-201E-08E5-FD47-950A25A65D8A}"/>
              </a:ext>
            </a:extLst>
          </p:cNvPr>
          <p:cNvGrpSpPr/>
          <p:nvPr/>
        </p:nvGrpSpPr>
        <p:grpSpPr>
          <a:xfrm>
            <a:off x="476251" y="1123952"/>
            <a:ext cx="6711479" cy="5410674"/>
            <a:chOff x="476251" y="1123952"/>
            <a:chExt cx="6711479" cy="6704668"/>
          </a:xfrm>
        </p:grpSpPr>
        <p:sp>
          <p:nvSpPr>
            <p:cNvPr id="4" name="Shape 1"/>
            <p:cNvSpPr/>
            <p:nvPr/>
          </p:nvSpPr>
          <p:spPr>
            <a:xfrm>
              <a:off x="476251" y="1123952"/>
              <a:ext cx="6711479" cy="428625"/>
            </a:xfrm>
            <a:prstGeom prst="rect">
              <a:avLst/>
            </a:prstGeom>
            <a:solidFill>
              <a:srgbClr val="3BA55C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 2"/>
            <p:cNvSpPr/>
            <p:nvPr/>
          </p:nvSpPr>
          <p:spPr>
            <a:xfrm>
              <a:off x="476251" y="1125706"/>
              <a:ext cx="4831928" cy="425116"/>
            </a:xfrm>
            <a:prstGeom prst="rect">
              <a:avLst/>
            </a:prstGeom>
            <a:noFill/>
            <a:ln/>
          </p:spPr>
          <p:txBody>
            <a:bodyPr wrap="square" lIns="158835" tIns="136144" rIns="158835" bIns="136144" rtlCol="0" anchor="ctr">
              <a:spAutoFit/>
            </a:bodyPr>
            <a:lstStyle/>
            <a:p>
              <a:r>
                <a:rPr lang="en-US" sz="976" b="1" dirty="0">
                  <a:solidFill>
                    <a:srgbClr val="FFFFFF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Resumo Financeiro do Período 2024/5</a:t>
              </a:r>
              <a:endParaRPr lang="en-US" sz="976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5308179" y="1125706"/>
              <a:ext cx="1879551" cy="425116"/>
            </a:xfrm>
            <a:prstGeom prst="rect">
              <a:avLst/>
            </a:prstGeom>
            <a:noFill/>
            <a:ln/>
          </p:spPr>
          <p:txBody>
            <a:bodyPr wrap="square" lIns="158835" tIns="136144" rIns="158835" bIns="136144" rtlCol="0" anchor="ctr">
              <a:spAutoFit/>
            </a:bodyPr>
            <a:lstStyle/>
            <a:p>
              <a:pPr algn="r"/>
              <a:r>
                <a:rPr lang="en-US" sz="976" b="1" dirty="0">
                  <a:solidFill>
                    <a:srgbClr val="FFFFFF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Valor (R$)</a:t>
              </a:r>
              <a:endParaRPr lang="en-US" sz="976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609600" y="1660184"/>
              <a:ext cx="1360950" cy="139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sz="907" b="1" dirty="0">
                  <a:solidFill>
                    <a:srgbClr val="424242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Caixa Inicial do Período</a:t>
              </a:r>
              <a:endParaRPr lang="en-US" sz="907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5308179" y="1563030"/>
              <a:ext cx="1879551" cy="345800"/>
            </a:xfrm>
            <a:prstGeom prst="rect">
              <a:avLst/>
            </a:prstGeom>
            <a:noFill/>
            <a:ln/>
          </p:spPr>
          <p:txBody>
            <a:bodyPr wrap="square" lIns="158835" tIns="102108" rIns="158835" bIns="102108" rtlCol="0" anchor="ctr">
              <a:spAutoFit/>
            </a:bodyPr>
            <a:lstStyle/>
            <a:p>
              <a:pPr algn="r"/>
              <a:r>
                <a:rPr lang="en-US" sz="907" b="1" dirty="0">
                  <a:solidFill>
                    <a:srgbClr val="424242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4.076.268,00</a:t>
              </a:r>
              <a:endParaRPr lang="en-US" sz="907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476251" y="1919288"/>
              <a:ext cx="6711479" cy="366712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pt-BR"/>
            </a:p>
          </p:txBody>
        </p:sp>
        <p:pic>
          <p:nvPicPr>
            <p:cNvPr id="10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1" y="2035970"/>
              <a:ext cx="123825" cy="123825"/>
            </a:xfrm>
            <a:prstGeom prst="rect">
              <a:avLst/>
            </a:prstGeom>
          </p:spPr>
        </p:pic>
        <p:sp>
          <p:nvSpPr>
            <p:cNvPr id="11" name="Text 7"/>
            <p:cNvSpPr/>
            <p:nvPr/>
          </p:nvSpPr>
          <p:spPr>
            <a:xfrm>
              <a:off x="809626" y="2026896"/>
              <a:ext cx="615553" cy="139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sz="907" b="1" dirty="0">
                  <a:solidFill>
                    <a:srgbClr val="2E8B57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ENTRADAS</a:t>
              </a:r>
              <a:endParaRPr lang="en-US" sz="907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476251" y="2296456"/>
              <a:ext cx="4831928" cy="345800"/>
            </a:xfrm>
            <a:prstGeom prst="rect">
              <a:avLst/>
            </a:prstGeom>
            <a:noFill/>
            <a:ln/>
          </p:spPr>
          <p:txBody>
            <a:bodyPr wrap="square" lIns="158835" tIns="102108" rIns="158835" bIns="102108" rtlCol="0" anchor="ctr">
              <a:spAutoFit/>
            </a:bodyPr>
            <a:lstStyle/>
            <a:p>
              <a:r>
                <a:rPr lang="en-US" sz="907" dirty="0">
                  <a:solidFill>
                    <a:srgbClr val="424242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Lucro Operação - Agricultura</a:t>
              </a:r>
              <a:endParaRPr lang="en-US" sz="907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5308179" y="2296456"/>
              <a:ext cx="1879551" cy="345800"/>
            </a:xfrm>
            <a:prstGeom prst="rect">
              <a:avLst/>
            </a:prstGeom>
            <a:noFill/>
            <a:ln/>
          </p:spPr>
          <p:txBody>
            <a:bodyPr wrap="square" lIns="158835" tIns="102108" rIns="158835" bIns="102108" rtlCol="0" anchor="ctr">
              <a:spAutoFit/>
            </a:bodyPr>
            <a:lstStyle/>
            <a:p>
              <a:pPr algn="r"/>
              <a:r>
                <a:rPr lang="en-US" sz="907" b="1" dirty="0">
                  <a:solidFill>
                    <a:srgbClr val="424242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6.651.497,49</a:t>
              </a:r>
              <a:endParaRPr lang="en-US" sz="907" dirty="0"/>
            </a:p>
          </p:txBody>
        </p:sp>
        <p:sp>
          <p:nvSpPr>
            <p:cNvPr id="14" name="Text 10"/>
            <p:cNvSpPr/>
            <p:nvPr/>
          </p:nvSpPr>
          <p:spPr>
            <a:xfrm>
              <a:off x="476251" y="2663168"/>
              <a:ext cx="4831928" cy="345800"/>
            </a:xfrm>
            <a:prstGeom prst="rect">
              <a:avLst/>
            </a:prstGeom>
            <a:noFill/>
            <a:ln/>
          </p:spPr>
          <p:txBody>
            <a:bodyPr wrap="square" lIns="158835" tIns="102108" rIns="158835" bIns="102108" rtlCol="0" anchor="ctr">
              <a:spAutoFit/>
            </a:bodyPr>
            <a:lstStyle/>
            <a:p>
              <a:r>
                <a:rPr lang="en-US" sz="907" dirty="0">
                  <a:solidFill>
                    <a:srgbClr val="424242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Lucro Operação - Pecuária</a:t>
              </a:r>
              <a:endParaRPr lang="en-US" sz="907" dirty="0"/>
            </a:p>
          </p:txBody>
        </p:sp>
        <p:sp>
          <p:nvSpPr>
            <p:cNvPr id="15" name="Text 11"/>
            <p:cNvSpPr/>
            <p:nvPr/>
          </p:nvSpPr>
          <p:spPr>
            <a:xfrm>
              <a:off x="5308179" y="2663168"/>
              <a:ext cx="1879551" cy="345800"/>
            </a:xfrm>
            <a:prstGeom prst="rect">
              <a:avLst/>
            </a:prstGeom>
            <a:noFill/>
            <a:ln/>
          </p:spPr>
          <p:txBody>
            <a:bodyPr wrap="square" lIns="158835" tIns="102108" rIns="158835" bIns="102108" rtlCol="0" anchor="ctr">
              <a:spAutoFit/>
            </a:bodyPr>
            <a:lstStyle/>
            <a:p>
              <a:pPr algn="r"/>
              <a:r>
                <a:rPr lang="en-US" sz="907" b="1" dirty="0">
                  <a:solidFill>
                    <a:srgbClr val="424242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2.440.601,50</a:t>
              </a:r>
              <a:endParaRPr lang="en-US" sz="907" dirty="0"/>
            </a:p>
          </p:txBody>
        </p:sp>
        <p:sp>
          <p:nvSpPr>
            <p:cNvPr id="16" name="Text 12"/>
            <p:cNvSpPr/>
            <p:nvPr/>
          </p:nvSpPr>
          <p:spPr>
            <a:xfrm>
              <a:off x="476251" y="3029881"/>
              <a:ext cx="4831928" cy="345800"/>
            </a:xfrm>
            <a:prstGeom prst="rect">
              <a:avLst/>
            </a:prstGeom>
            <a:noFill/>
            <a:ln/>
          </p:spPr>
          <p:txBody>
            <a:bodyPr wrap="square" lIns="158835" tIns="102108" rIns="158835" bIns="102108" rtlCol="0" anchor="ctr">
              <a:spAutoFit/>
            </a:bodyPr>
            <a:lstStyle/>
            <a:p>
              <a:r>
                <a:rPr lang="en-US" sz="907" dirty="0">
                  <a:solidFill>
                    <a:srgbClr val="424242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Arrendamento</a:t>
              </a:r>
              <a:endParaRPr lang="en-US" sz="907" dirty="0"/>
            </a:p>
          </p:txBody>
        </p:sp>
        <p:sp>
          <p:nvSpPr>
            <p:cNvPr id="17" name="Text 13"/>
            <p:cNvSpPr/>
            <p:nvPr/>
          </p:nvSpPr>
          <p:spPr>
            <a:xfrm>
              <a:off x="5308179" y="3029881"/>
              <a:ext cx="1879551" cy="345800"/>
            </a:xfrm>
            <a:prstGeom prst="rect">
              <a:avLst/>
            </a:prstGeom>
            <a:noFill/>
            <a:ln/>
          </p:spPr>
          <p:txBody>
            <a:bodyPr wrap="square" lIns="158835" tIns="102108" rIns="158835" bIns="102108" rtlCol="0" anchor="ctr">
              <a:spAutoFit/>
            </a:bodyPr>
            <a:lstStyle/>
            <a:p>
              <a:pPr algn="r"/>
              <a:r>
                <a:rPr lang="en-US" sz="907" b="1" dirty="0">
                  <a:solidFill>
                    <a:srgbClr val="424242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420.000,00</a:t>
              </a:r>
              <a:endParaRPr lang="en-US" sz="907" dirty="0"/>
            </a:p>
          </p:txBody>
        </p:sp>
        <p:sp>
          <p:nvSpPr>
            <p:cNvPr id="18" name="Text 14"/>
            <p:cNvSpPr/>
            <p:nvPr/>
          </p:nvSpPr>
          <p:spPr>
            <a:xfrm>
              <a:off x="476251" y="3396593"/>
              <a:ext cx="4831928" cy="345800"/>
            </a:xfrm>
            <a:prstGeom prst="rect">
              <a:avLst/>
            </a:prstGeom>
            <a:noFill/>
            <a:ln/>
          </p:spPr>
          <p:txBody>
            <a:bodyPr wrap="square" lIns="158835" tIns="102108" rIns="158835" bIns="102108" rtlCol="0" anchor="ctr">
              <a:spAutoFit/>
            </a:bodyPr>
            <a:lstStyle/>
            <a:p>
              <a:r>
                <a:rPr lang="en-US" sz="907" dirty="0">
                  <a:solidFill>
                    <a:srgbClr val="424242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Carretas</a:t>
              </a:r>
              <a:endParaRPr lang="en-US" sz="907" dirty="0"/>
            </a:p>
          </p:txBody>
        </p:sp>
        <p:sp>
          <p:nvSpPr>
            <p:cNvPr id="19" name="Text 15"/>
            <p:cNvSpPr/>
            <p:nvPr/>
          </p:nvSpPr>
          <p:spPr>
            <a:xfrm>
              <a:off x="5308179" y="3396593"/>
              <a:ext cx="1879551" cy="345800"/>
            </a:xfrm>
            <a:prstGeom prst="rect">
              <a:avLst/>
            </a:prstGeom>
            <a:noFill/>
            <a:ln/>
          </p:spPr>
          <p:txBody>
            <a:bodyPr wrap="square" lIns="158835" tIns="102108" rIns="158835" bIns="102108" rtlCol="0" anchor="ctr">
              <a:spAutoFit/>
            </a:bodyPr>
            <a:lstStyle/>
            <a:p>
              <a:pPr algn="r"/>
              <a:r>
                <a:rPr lang="en-US" sz="907" b="1" dirty="0">
                  <a:solidFill>
                    <a:srgbClr val="424242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600.000,00</a:t>
              </a:r>
              <a:endParaRPr lang="en-US" sz="907" dirty="0"/>
            </a:p>
          </p:txBody>
        </p:sp>
        <p:sp>
          <p:nvSpPr>
            <p:cNvPr id="20" name="Text 16"/>
            <p:cNvSpPr/>
            <p:nvPr/>
          </p:nvSpPr>
          <p:spPr>
            <a:xfrm>
              <a:off x="476251" y="3763306"/>
              <a:ext cx="4831928" cy="345800"/>
            </a:xfrm>
            <a:prstGeom prst="rect">
              <a:avLst/>
            </a:prstGeom>
            <a:noFill/>
            <a:ln/>
          </p:spPr>
          <p:txBody>
            <a:bodyPr wrap="square" lIns="158835" tIns="102108" rIns="158835" bIns="102108" rtlCol="0" anchor="ctr">
              <a:spAutoFit/>
            </a:bodyPr>
            <a:lstStyle/>
            <a:p>
              <a:r>
                <a:rPr lang="en-US" sz="907" dirty="0">
                  <a:solidFill>
                    <a:srgbClr val="424242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Endividamentos Realizados</a:t>
              </a:r>
              <a:endParaRPr lang="en-US" sz="907" dirty="0"/>
            </a:p>
          </p:txBody>
        </p:sp>
        <p:sp>
          <p:nvSpPr>
            <p:cNvPr id="21" name="Text 17"/>
            <p:cNvSpPr/>
            <p:nvPr/>
          </p:nvSpPr>
          <p:spPr>
            <a:xfrm>
              <a:off x="5308179" y="3763306"/>
              <a:ext cx="1879551" cy="345800"/>
            </a:xfrm>
            <a:prstGeom prst="rect">
              <a:avLst/>
            </a:prstGeom>
            <a:noFill/>
            <a:ln/>
          </p:spPr>
          <p:txBody>
            <a:bodyPr wrap="square" lIns="158835" tIns="102108" rIns="158835" bIns="102108" rtlCol="0" anchor="ctr">
              <a:spAutoFit/>
            </a:bodyPr>
            <a:lstStyle/>
            <a:p>
              <a:pPr algn="r"/>
              <a:r>
                <a:rPr lang="en-US" sz="907" b="1" dirty="0">
                  <a:solidFill>
                    <a:srgbClr val="424242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10.852.069,00</a:t>
              </a:r>
              <a:endParaRPr lang="en-US" sz="907" dirty="0"/>
            </a:p>
          </p:txBody>
        </p:sp>
        <p:sp>
          <p:nvSpPr>
            <p:cNvPr id="22" name="Shape 18"/>
            <p:cNvSpPr/>
            <p:nvPr/>
          </p:nvSpPr>
          <p:spPr>
            <a:xfrm>
              <a:off x="476251" y="4119563"/>
              <a:ext cx="6711479" cy="366712"/>
            </a:xfrm>
            <a:prstGeom prst="rect">
              <a:avLst/>
            </a:prstGeom>
            <a:solidFill>
              <a:srgbClr val="E8F5E9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 19"/>
            <p:cNvSpPr/>
            <p:nvPr/>
          </p:nvSpPr>
          <p:spPr>
            <a:xfrm>
              <a:off x="609601" y="4227170"/>
              <a:ext cx="1535677" cy="139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sz="907" b="1" dirty="0">
                  <a:solidFill>
                    <a:srgbClr val="2E8B57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Total de Entradas Líquidas</a:t>
              </a:r>
              <a:endParaRPr lang="en-US" sz="907" dirty="0"/>
            </a:p>
          </p:txBody>
        </p:sp>
        <p:sp>
          <p:nvSpPr>
            <p:cNvPr id="24" name="Text 20"/>
            <p:cNvSpPr/>
            <p:nvPr/>
          </p:nvSpPr>
          <p:spPr>
            <a:xfrm>
              <a:off x="6369897" y="4227170"/>
              <a:ext cx="684482" cy="139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r"/>
              <a:r>
                <a:rPr lang="en-US" sz="907" b="1" dirty="0">
                  <a:solidFill>
                    <a:srgbClr val="2E8B57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20.964.167,99</a:t>
              </a:r>
              <a:endParaRPr lang="en-US" sz="907" dirty="0"/>
            </a:p>
          </p:txBody>
        </p:sp>
        <p:sp>
          <p:nvSpPr>
            <p:cNvPr id="25" name="Shape 21"/>
            <p:cNvSpPr/>
            <p:nvPr/>
          </p:nvSpPr>
          <p:spPr>
            <a:xfrm>
              <a:off x="476251" y="4486275"/>
              <a:ext cx="6711479" cy="366712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pt-BR"/>
            </a:p>
          </p:txBody>
        </p:sp>
        <p:pic>
          <p:nvPicPr>
            <p:cNvPr id="26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1" y="4602957"/>
              <a:ext cx="123825" cy="123825"/>
            </a:xfrm>
            <a:prstGeom prst="rect">
              <a:avLst/>
            </a:prstGeom>
          </p:spPr>
        </p:pic>
        <p:sp>
          <p:nvSpPr>
            <p:cNvPr id="27" name="Text 22"/>
            <p:cNvSpPr/>
            <p:nvPr/>
          </p:nvSpPr>
          <p:spPr>
            <a:xfrm>
              <a:off x="809626" y="4593884"/>
              <a:ext cx="419987" cy="139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sz="907" b="1" dirty="0">
                  <a:solidFill>
                    <a:srgbClr val="2E8B57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SAÍDAS</a:t>
              </a:r>
              <a:endParaRPr lang="en-US" sz="907" dirty="0"/>
            </a:p>
          </p:txBody>
        </p:sp>
        <p:sp>
          <p:nvSpPr>
            <p:cNvPr id="28" name="Text 23"/>
            <p:cNvSpPr/>
            <p:nvPr/>
          </p:nvSpPr>
          <p:spPr>
            <a:xfrm>
              <a:off x="476251" y="4863444"/>
              <a:ext cx="4831928" cy="345800"/>
            </a:xfrm>
            <a:prstGeom prst="rect">
              <a:avLst/>
            </a:prstGeom>
            <a:noFill/>
            <a:ln/>
          </p:spPr>
          <p:txBody>
            <a:bodyPr wrap="square" lIns="158835" tIns="102108" rIns="158835" bIns="102108" rtlCol="0" anchor="ctr">
              <a:spAutoFit/>
            </a:bodyPr>
            <a:lstStyle/>
            <a:p>
              <a:r>
                <a:rPr lang="en-US" sz="907" dirty="0">
                  <a:solidFill>
                    <a:srgbClr val="424242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Abatimento de Dívidas</a:t>
              </a:r>
              <a:endParaRPr lang="en-US" sz="907" dirty="0"/>
            </a:p>
          </p:txBody>
        </p:sp>
        <p:sp>
          <p:nvSpPr>
            <p:cNvPr id="29" name="Text 24"/>
            <p:cNvSpPr/>
            <p:nvPr/>
          </p:nvSpPr>
          <p:spPr>
            <a:xfrm>
              <a:off x="5308179" y="4863444"/>
              <a:ext cx="1879551" cy="345800"/>
            </a:xfrm>
            <a:prstGeom prst="rect">
              <a:avLst/>
            </a:prstGeom>
            <a:noFill/>
            <a:ln/>
          </p:spPr>
          <p:txBody>
            <a:bodyPr wrap="square" lIns="158835" tIns="102108" rIns="158835" bIns="102108" rtlCol="0" anchor="ctr">
              <a:spAutoFit/>
            </a:bodyPr>
            <a:lstStyle/>
            <a:p>
              <a:pPr algn="r"/>
              <a:r>
                <a:rPr lang="en-US" sz="907" b="1" dirty="0">
                  <a:solidFill>
                    <a:srgbClr val="424242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10.996.815,00</a:t>
              </a:r>
              <a:endParaRPr lang="en-US" sz="907" dirty="0"/>
            </a:p>
          </p:txBody>
        </p:sp>
        <p:sp>
          <p:nvSpPr>
            <p:cNvPr id="30" name="Text 25"/>
            <p:cNvSpPr/>
            <p:nvPr/>
          </p:nvSpPr>
          <p:spPr>
            <a:xfrm>
              <a:off x="476251" y="5230156"/>
              <a:ext cx="4831928" cy="345800"/>
            </a:xfrm>
            <a:prstGeom prst="rect">
              <a:avLst/>
            </a:prstGeom>
            <a:noFill/>
            <a:ln/>
          </p:spPr>
          <p:txBody>
            <a:bodyPr wrap="square" lIns="158835" tIns="102108" rIns="158835" bIns="102108" rtlCol="0" anchor="ctr">
              <a:spAutoFit/>
            </a:bodyPr>
            <a:lstStyle/>
            <a:p>
              <a:r>
                <a:rPr lang="en-US" sz="907" dirty="0">
                  <a:solidFill>
                    <a:srgbClr val="424242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Distribuição aos Sócios</a:t>
              </a:r>
              <a:endParaRPr lang="en-US" sz="907" dirty="0"/>
            </a:p>
          </p:txBody>
        </p:sp>
        <p:sp>
          <p:nvSpPr>
            <p:cNvPr id="31" name="Text 26"/>
            <p:cNvSpPr/>
            <p:nvPr/>
          </p:nvSpPr>
          <p:spPr>
            <a:xfrm>
              <a:off x="5308179" y="5230156"/>
              <a:ext cx="1879551" cy="345800"/>
            </a:xfrm>
            <a:prstGeom prst="rect">
              <a:avLst/>
            </a:prstGeom>
            <a:noFill/>
            <a:ln/>
          </p:spPr>
          <p:txBody>
            <a:bodyPr wrap="square" lIns="158835" tIns="102108" rIns="158835" bIns="102108" rtlCol="0" anchor="ctr">
              <a:spAutoFit/>
            </a:bodyPr>
            <a:lstStyle/>
            <a:p>
              <a:pPr algn="r"/>
              <a:r>
                <a:rPr lang="en-US" sz="907" b="1" dirty="0">
                  <a:solidFill>
                    <a:srgbClr val="424242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788.364,00</a:t>
              </a:r>
              <a:endParaRPr lang="en-US" sz="907" dirty="0"/>
            </a:p>
          </p:txBody>
        </p:sp>
        <p:sp>
          <p:nvSpPr>
            <p:cNvPr id="32" name="Text 27"/>
            <p:cNvSpPr/>
            <p:nvPr/>
          </p:nvSpPr>
          <p:spPr>
            <a:xfrm>
              <a:off x="476251" y="5596868"/>
              <a:ext cx="4831928" cy="345800"/>
            </a:xfrm>
            <a:prstGeom prst="rect">
              <a:avLst/>
            </a:prstGeom>
            <a:noFill/>
            <a:ln/>
          </p:spPr>
          <p:txBody>
            <a:bodyPr wrap="square" lIns="158835" tIns="102108" rIns="158835" bIns="102108" rtlCol="0" anchor="ctr">
              <a:spAutoFit/>
            </a:bodyPr>
            <a:lstStyle/>
            <a:p>
              <a:r>
                <a:rPr lang="en-US" sz="907" dirty="0">
                  <a:solidFill>
                    <a:srgbClr val="424242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Investimentos</a:t>
              </a:r>
              <a:endParaRPr lang="en-US" sz="907" dirty="0"/>
            </a:p>
          </p:txBody>
        </p:sp>
        <p:sp>
          <p:nvSpPr>
            <p:cNvPr id="33" name="Text 28"/>
            <p:cNvSpPr/>
            <p:nvPr/>
          </p:nvSpPr>
          <p:spPr>
            <a:xfrm>
              <a:off x="5308179" y="5596868"/>
              <a:ext cx="1879551" cy="345800"/>
            </a:xfrm>
            <a:prstGeom prst="rect">
              <a:avLst/>
            </a:prstGeom>
            <a:noFill/>
            <a:ln/>
          </p:spPr>
          <p:txBody>
            <a:bodyPr wrap="square" lIns="158835" tIns="102108" rIns="158835" bIns="102108" rtlCol="0" anchor="ctr">
              <a:spAutoFit/>
            </a:bodyPr>
            <a:lstStyle/>
            <a:p>
              <a:pPr algn="r"/>
              <a:r>
                <a:rPr lang="en-US" sz="907" b="1" dirty="0">
                  <a:solidFill>
                    <a:srgbClr val="424242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1.027.455,00</a:t>
              </a:r>
              <a:endParaRPr lang="en-US" sz="907" dirty="0"/>
            </a:p>
          </p:txBody>
        </p:sp>
        <p:sp>
          <p:nvSpPr>
            <p:cNvPr id="34" name="Shape 29"/>
            <p:cNvSpPr/>
            <p:nvPr/>
          </p:nvSpPr>
          <p:spPr>
            <a:xfrm>
              <a:off x="476251" y="5953125"/>
              <a:ext cx="6711479" cy="366712"/>
            </a:xfrm>
            <a:prstGeom prst="rect">
              <a:avLst/>
            </a:prstGeom>
            <a:solidFill>
              <a:srgbClr val="FFF9E6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Text 30"/>
            <p:cNvSpPr/>
            <p:nvPr/>
          </p:nvSpPr>
          <p:spPr>
            <a:xfrm>
              <a:off x="609601" y="6060733"/>
              <a:ext cx="629981" cy="139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sz="907" b="1" dirty="0">
                  <a:solidFill>
                    <a:srgbClr val="424242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Caixa Final</a:t>
              </a:r>
              <a:endParaRPr lang="en-US" sz="907" dirty="0"/>
            </a:p>
          </p:txBody>
        </p:sp>
        <p:sp>
          <p:nvSpPr>
            <p:cNvPr id="36" name="Text 31"/>
            <p:cNvSpPr/>
            <p:nvPr/>
          </p:nvSpPr>
          <p:spPr>
            <a:xfrm>
              <a:off x="6369897" y="6060733"/>
              <a:ext cx="684482" cy="139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r"/>
              <a:r>
                <a:rPr lang="en-US" sz="907" b="1" dirty="0">
                  <a:solidFill>
                    <a:srgbClr val="424242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12.227.801,99</a:t>
              </a:r>
              <a:endParaRPr lang="en-US" sz="907" dirty="0"/>
            </a:p>
          </p:txBody>
        </p:sp>
        <p:sp>
          <p:nvSpPr>
            <p:cNvPr id="37" name="Text 32"/>
            <p:cNvSpPr/>
            <p:nvPr/>
          </p:nvSpPr>
          <p:spPr>
            <a:xfrm>
              <a:off x="609601" y="6484596"/>
              <a:ext cx="2140009" cy="139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sz="907" b="1" dirty="0">
                  <a:solidFill>
                    <a:srgbClr val="424242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Redução em Gado (vs Safra Anterior)</a:t>
              </a:r>
              <a:endParaRPr lang="en-US" sz="907" dirty="0"/>
            </a:p>
          </p:txBody>
        </p:sp>
        <p:sp>
          <p:nvSpPr>
            <p:cNvPr id="38" name="Text 33"/>
            <p:cNvSpPr/>
            <p:nvPr/>
          </p:nvSpPr>
          <p:spPr>
            <a:xfrm>
              <a:off x="5308179" y="6324586"/>
              <a:ext cx="1879551" cy="414366"/>
            </a:xfrm>
            <a:prstGeom prst="rect">
              <a:avLst/>
            </a:prstGeom>
            <a:noFill/>
            <a:ln/>
          </p:spPr>
          <p:txBody>
            <a:bodyPr wrap="square" lIns="158835" tIns="170011" rIns="158835" bIns="102108" rtlCol="0" anchor="ctr">
              <a:spAutoFit/>
            </a:bodyPr>
            <a:lstStyle/>
            <a:p>
              <a:pPr algn="r"/>
              <a:r>
                <a:rPr lang="en-US" sz="907" b="1" dirty="0">
                  <a:solidFill>
                    <a:srgbClr val="424242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3.870.900,00</a:t>
              </a:r>
              <a:endParaRPr lang="en-US" sz="907" dirty="0"/>
            </a:p>
          </p:txBody>
        </p:sp>
        <p:sp>
          <p:nvSpPr>
            <p:cNvPr id="39" name="Shape 34"/>
            <p:cNvSpPr/>
            <p:nvPr/>
          </p:nvSpPr>
          <p:spPr>
            <a:xfrm>
              <a:off x="476251" y="6743700"/>
              <a:ext cx="6711479" cy="366712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pt-BR"/>
            </a:p>
          </p:txBody>
        </p:sp>
        <p:pic>
          <p:nvPicPr>
            <p:cNvPr id="40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" y="6860381"/>
              <a:ext cx="140493" cy="123825"/>
            </a:xfrm>
            <a:prstGeom prst="rect">
              <a:avLst/>
            </a:prstGeom>
          </p:spPr>
        </p:pic>
        <p:sp>
          <p:nvSpPr>
            <p:cNvPr id="41" name="Text 35"/>
            <p:cNvSpPr/>
            <p:nvPr/>
          </p:nvSpPr>
          <p:spPr>
            <a:xfrm>
              <a:off x="826293" y="6834618"/>
              <a:ext cx="1317668" cy="1729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sz="907" b="1" dirty="0">
                  <a:solidFill>
                    <a:srgbClr val="2E8B57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COMPRAS </a:t>
              </a:r>
              <a:r>
                <a:rPr lang="en-US" sz="907" b="1" dirty="0" err="1">
                  <a:solidFill>
                    <a:srgbClr val="2E8B57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Antecipadas</a:t>
              </a:r>
              <a:endParaRPr lang="en-US" sz="907" dirty="0"/>
            </a:p>
          </p:txBody>
        </p:sp>
        <p:sp>
          <p:nvSpPr>
            <p:cNvPr id="42" name="Text 36"/>
            <p:cNvSpPr/>
            <p:nvPr/>
          </p:nvSpPr>
          <p:spPr>
            <a:xfrm>
              <a:off x="476251" y="7120868"/>
              <a:ext cx="4831928" cy="345800"/>
            </a:xfrm>
            <a:prstGeom prst="rect">
              <a:avLst/>
            </a:prstGeom>
            <a:noFill/>
            <a:ln/>
          </p:spPr>
          <p:txBody>
            <a:bodyPr wrap="square" lIns="158835" tIns="102108" rIns="158835" bIns="102108" rtlCol="0" anchor="ctr">
              <a:spAutoFit/>
            </a:bodyPr>
            <a:lstStyle/>
            <a:p>
              <a:r>
                <a:rPr lang="en-US" sz="907" dirty="0">
                  <a:solidFill>
                    <a:srgbClr val="424242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Compras Adiantadas (Próx. Safra) - Adubo</a:t>
              </a:r>
              <a:endParaRPr lang="en-US" sz="907" dirty="0"/>
            </a:p>
          </p:txBody>
        </p:sp>
        <p:sp>
          <p:nvSpPr>
            <p:cNvPr id="43" name="Text 37"/>
            <p:cNvSpPr/>
            <p:nvPr/>
          </p:nvSpPr>
          <p:spPr>
            <a:xfrm>
              <a:off x="5308179" y="7120868"/>
              <a:ext cx="1879551" cy="345800"/>
            </a:xfrm>
            <a:prstGeom prst="rect">
              <a:avLst/>
            </a:prstGeom>
            <a:noFill/>
            <a:ln/>
          </p:spPr>
          <p:txBody>
            <a:bodyPr wrap="square" lIns="158835" tIns="102108" rIns="158835" bIns="102108" rtlCol="0" anchor="ctr">
              <a:spAutoFit/>
            </a:bodyPr>
            <a:lstStyle/>
            <a:p>
              <a:pPr algn="r"/>
              <a:r>
                <a:rPr lang="en-US" sz="907" b="1" dirty="0">
                  <a:solidFill>
                    <a:srgbClr val="424242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3.336.893,00</a:t>
              </a:r>
              <a:endParaRPr lang="en-US" sz="907" dirty="0"/>
            </a:p>
          </p:txBody>
        </p:sp>
        <p:sp>
          <p:nvSpPr>
            <p:cNvPr id="44" name="Text 38"/>
            <p:cNvSpPr/>
            <p:nvPr/>
          </p:nvSpPr>
          <p:spPr>
            <a:xfrm>
              <a:off x="476251" y="7482820"/>
              <a:ext cx="4831928" cy="345800"/>
            </a:xfrm>
            <a:prstGeom prst="rect">
              <a:avLst/>
            </a:prstGeom>
            <a:noFill/>
            <a:ln/>
          </p:spPr>
          <p:txBody>
            <a:bodyPr wrap="square" lIns="158835" tIns="102108" rIns="158835" bIns="102108" rtlCol="0" anchor="ctr">
              <a:spAutoFit/>
            </a:bodyPr>
            <a:lstStyle/>
            <a:p>
              <a:r>
                <a:rPr lang="en-US" sz="907" dirty="0">
                  <a:solidFill>
                    <a:srgbClr val="424242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Compras Adiantadas (Próx. Safra) - Sementes</a:t>
              </a:r>
              <a:endParaRPr lang="en-US" sz="907" dirty="0"/>
            </a:p>
          </p:txBody>
        </p:sp>
        <p:sp>
          <p:nvSpPr>
            <p:cNvPr id="45" name="Text 39"/>
            <p:cNvSpPr/>
            <p:nvPr/>
          </p:nvSpPr>
          <p:spPr>
            <a:xfrm>
              <a:off x="5308179" y="7482820"/>
              <a:ext cx="1879551" cy="345800"/>
            </a:xfrm>
            <a:prstGeom prst="rect">
              <a:avLst/>
            </a:prstGeom>
            <a:noFill/>
            <a:ln/>
          </p:spPr>
          <p:txBody>
            <a:bodyPr wrap="square" lIns="158835" tIns="102108" rIns="158835" bIns="102108" rtlCol="0" anchor="ctr">
              <a:spAutoFit/>
            </a:bodyPr>
            <a:lstStyle/>
            <a:p>
              <a:pPr algn="r"/>
              <a:r>
                <a:rPr lang="en-US" sz="907" b="1" dirty="0">
                  <a:solidFill>
                    <a:srgbClr val="424242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814.019,00</a:t>
              </a:r>
              <a:endParaRPr lang="en-US" sz="907" dirty="0"/>
            </a:p>
          </p:txBody>
        </p:sp>
      </p:grpSp>
      <p:sp>
        <p:nvSpPr>
          <p:cNvPr id="46" name="Shape 40"/>
          <p:cNvSpPr/>
          <p:nvPr/>
        </p:nvSpPr>
        <p:spPr>
          <a:xfrm>
            <a:off x="7521105" y="1123951"/>
            <a:ext cx="4194647" cy="72579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41"/>
          <p:cNvSpPr/>
          <p:nvPr/>
        </p:nvSpPr>
        <p:spPr>
          <a:xfrm>
            <a:off x="7521105" y="1123951"/>
            <a:ext cx="38100" cy="725797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Shape 42"/>
          <p:cNvSpPr/>
          <p:nvPr/>
        </p:nvSpPr>
        <p:spPr>
          <a:xfrm>
            <a:off x="7654454" y="1238251"/>
            <a:ext cx="190500" cy="1905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1845" y="1285875"/>
            <a:ext cx="35719" cy="95251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7911629" y="1263705"/>
            <a:ext cx="1495602" cy="1395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907" b="1" dirty="0">
                <a:solidFill>
                  <a:srgbClr val="2E8B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Informações Importantes</a:t>
            </a:r>
            <a:endParaRPr lang="en-US" sz="907" dirty="0"/>
          </a:p>
        </p:txBody>
      </p:sp>
      <p:sp>
        <p:nvSpPr>
          <p:cNvPr id="51" name="Text 44"/>
          <p:cNvSpPr/>
          <p:nvPr/>
        </p:nvSpPr>
        <p:spPr>
          <a:xfrm>
            <a:off x="7825904" y="1521830"/>
            <a:ext cx="1396216" cy="1395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907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Caixa em dezembro/2024</a:t>
            </a:r>
            <a:endParaRPr lang="en-US" sz="907" dirty="0"/>
          </a:p>
        </p:txBody>
      </p:sp>
      <p:sp>
        <p:nvSpPr>
          <p:cNvPr id="52" name="Shape 45"/>
          <p:cNvSpPr/>
          <p:nvPr/>
        </p:nvSpPr>
        <p:spPr>
          <a:xfrm>
            <a:off x="7521105" y="1993982"/>
            <a:ext cx="4194647" cy="89914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46"/>
          <p:cNvSpPr/>
          <p:nvPr/>
        </p:nvSpPr>
        <p:spPr>
          <a:xfrm>
            <a:off x="7521105" y="1993982"/>
            <a:ext cx="38100" cy="899145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Shape 47"/>
          <p:cNvSpPr/>
          <p:nvPr/>
        </p:nvSpPr>
        <p:spPr>
          <a:xfrm>
            <a:off x="7654454" y="2108282"/>
            <a:ext cx="190500" cy="1905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3986" y="2155907"/>
            <a:ext cx="71437" cy="95251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7911630" y="2133737"/>
            <a:ext cx="862416" cy="1395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907" b="1" dirty="0" err="1">
                <a:solidFill>
                  <a:srgbClr val="2E8B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Lucro</a:t>
            </a:r>
            <a:r>
              <a:rPr lang="en-US" sz="907" b="1" dirty="0">
                <a:solidFill>
                  <a:srgbClr val="2E8B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</a:t>
            </a:r>
            <a:r>
              <a:rPr lang="en-US" sz="907" b="1" dirty="0" err="1">
                <a:solidFill>
                  <a:srgbClr val="2E8B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receita</a:t>
            </a:r>
            <a:endParaRPr lang="en-US" sz="907" dirty="0"/>
          </a:p>
        </p:txBody>
      </p:sp>
      <p:sp>
        <p:nvSpPr>
          <p:cNvPr id="57" name="Text 49"/>
          <p:cNvSpPr/>
          <p:nvPr/>
        </p:nvSpPr>
        <p:spPr>
          <a:xfrm>
            <a:off x="7825904" y="2408740"/>
            <a:ext cx="3756496" cy="27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907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Resultado considera venda integral do Gado em confinamento e Capim em estoque</a:t>
            </a:r>
            <a:endParaRPr lang="en-US" sz="907" dirty="0"/>
          </a:p>
        </p:txBody>
      </p:sp>
      <p:sp>
        <p:nvSpPr>
          <p:cNvPr id="58" name="Shape 50"/>
          <p:cNvSpPr/>
          <p:nvPr/>
        </p:nvSpPr>
        <p:spPr>
          <a:xfrm>
            <a:off x="7521105" y="3068643"/>
            <a:ext cx="4194647" cy="89914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Shape 51"/>
          <p:cNvSpPr/>
          <p:nvPr/>
        </p:nvSpPr>
        <p:spPr>
          <a:xfrm>
            <a:off x="7521105" y="3068643"/>
            <a:ext cx="38100" cy="899145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Shape 52"/>
          <p:cNvSpPr/>
          <p:nvPr/>
        </p:nvSpPr>
        <p:spPr>
          <a:xfrm>
            <a:off x="7654454" y="3182943"/>
            <a:ext cx="190500" cy="1905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2079" y="3230566"/>
            <a:ext cx="95251" cy="95251"/>
          </a:xfrm>
          <a:prstGeom prst="rect">
            <a:avLst/>
          </a:prstGeom>
        </p:spPr>
      </p:pic>
      <p:sp>
        <p:nvSpPr>
          <p:cNvPr id="62" name="Text 53"/>
          <p:cNvSpPr/>
          <p:nvPr/>
        </p:nvSpPr>
        <p:spPr>
          <a:xfrm>
            <a:off x="7911630" y="3208397"/>
            <a:ext cx="857607" cy="1395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907" b="1" dirty="0" err="1">
                <a:solidFill>
                  <a:srgbClr val="2E8B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Arrendamento</a:t>
            </a:r>
            <a:endParaRPr lang="en-US" sz="907" dirty="0"/>
          </a:p>
        </p:txBody>
      </p:sp>
      <p:sp>
        <p:nvSpPr>
          <p:cNvPr id="63" name="Text 54"/>
          <p:cNvSpPr/>
          <p:nvPr/>
        </p:nvSpPr>
        <p:spPr>
          <a:xfrm>
            <a:off x="7825904" y="3483401"/>
            <a:ext cx="3756496" cy="27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907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R$4M Denio, R$3M custeio (Agricultura), R$3M custeio (Pecuária), R$400K Wolf + R$200K </a:t>
            </a:r>
            <a:r>
              <a:rPr lang="en-US" sz="907" dirty="0" err="1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custeio</a:t>
            </a:r>
            <a:r>
              <a:rPr lang="en-US" sz="907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Bradesco (</a:t>
            </a:r>
            <a:r>
              <a:rPr lang="en-US" sz="907" dirty="0" err="1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safra</a:t>
            </a:r>
            <a:r>
              <a:rPr lang="en-US" sz="907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anterior)</a:t>
            </a:r>
            <a:endParaRPr lang="en-US" sz="907" dirty="0"/>
          </a:p>
        </p:txBody>
      </p:sp>
      <p:sp>
        <p:nvSpPr>
          <p:cNvPr id="64" name="Shape 55"/>
          <p:cNvSpPr/>
          <p:nvPr/>
        </p:nvSpPr>
        <p:spPr>
          <a:xfrm>
            <a:off x="7521105" y="4949681"/>
            <a:ext cx="4194647" cy="72579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Shape 56"/>
          <p:cNvSpPr/>
          <p:nvPr/>
        </p:nvSpPr>
        <p:spPr>
          <a:xfrm>
            <a:off x="7521105" y="4949681"/>
            <a:ext cx="38100" cy="725797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Shape 57"/>
          <p:cNvSpPr/>
          <p:nvPr/>
        </p:nvSpPr>
        <p:spPr>
          <a:xfrm>
            <a:off x="7654454" y="5063982"/>
            <a:ext cx="190500" cy="1905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Text 58"/>
          <p:cNvSpPr/>
          <p:nvPr/>
        </p:nvSpPr>
        <p:spPr>
          <a:xfrm>
            <a:off x="7911629" y="5089437"/>
            <a:ext cx="508152" cy="1395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907" b="1" dirty="0">
                <a:solidFill>
                  <a:srgbClr val="2E8B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Pecuária</a:t>
            </a:r>
            <a:endParaRPr lang="en-US" sz="907" dirty="0"/>
          </a:p>
        </p:txBody>
      </p:sp>
      <p:sp>
        <p:nvSpPr>
          <p:cNvPr id="68" name="Text 59"/>
          <p:cNvSpPr/>
          <p:nvPr/>
        </p:nvSpPr>
        <p:spPr>
          <a:xfrm>
            <a:off x="7825905" y="5347561"/>
            <a:ext cx="3603551" cy="1395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907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Redução de 4.898 para 3.675 </a:t>
            </a:r>
            <a:r>
              <a:rPr lang="en-US" sz="907" dirty="0" err="1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cabeças</a:t>
            </a:r>
            <a:r>
              <a:rPr lang="en-US" sz="907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</a:t>
            </a:r>
            <a:r>
              <a:rPr lang="en-US" sz="907" dirty="0" err="1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nascimentos</a:t>
            </a:r>
            <a:r>
              <a:rPr lang="en-US" sz="907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7" dirty="0" err="1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considerados</a:t>
            </a:r>
            <a:r>
              <a:rPr lang="en-US" sz="907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</a:t>
            </a:r>
            <a:endParaRPr lang="en-US" sz="907" dirty="0"/>
          </a:p>
        </p:txBody>
      </p:sp>
      <p:sp>
        <p:nvSpPr>
          <p:cNvPr id="69" name="Shape 60"/>
          <p:cNvSpPr/>
          <p:nvPr/>
        </p:nvSpPr>
        <p:spPr>
          <a:xfrm>
            <a:off x="7521105" y="5808829"/>
            <a:ext cx="4194647" cy="72579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0" name="Shape 61"/>
          <p:cNvSpPr/>
          <p:nvPr/>
        </p:nvSpPr>
        <p:spPr>
          <a:xfrm>
            <a:off x="7521105" y="5808829"/>
            <a:ext cx="38100" cy="725797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Shape 62"/>
          <p:cNvSpPr/>
          <p:nvPr/>
        </p:nvSpPr>
        <p:spPr>
          <a:xfrm>
            <a:off x="7654454" y="5923130"/>
            <a:ext cx="190500" cy="1905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2079" y="5970753"/>
            <a:ext cx="95251" cy="95251"/>
          </a:xfrm>
          <a:prstGeom prst="rect">
            <a:avLst/>
          </a:prstGeom>
        </p:spPr>
      </p:pic>
      <p:sp>
        <p:nvSpPr>
          <p:cNvPr id="73" name="Text 63"/>
          <p:cNvSpPr/>
          <p:nvPr/>
        </p:nvSpPr>
        <p:spPr>
          <a:xfrm>
            <a:off x="7911630" y="5948583"/>
            <a:ext cx="1261564" cy="1395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907" b="1" dirty="0">
                <a:solidFill>
                  <a:srgbClr val="2E8B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Compras Antecipadas</a:t>
            </a:r>
            <a:endParaRPr lang="en-US" sz="907" dirty="0"/>
          </a:p>
        </p:txBody>
      </p:sp>
      <p:sp>
        <p:nvSpPr>
          <p:cNvPr id="74" name="Text 64"/>
          <p:cNvSpPr/>
          <p:nvPr/>
        </p:nvSpPr>
        <p:spPr>
          <a:xfrm>
            <a:off x="7825905" y="6206709"/>
            <a:ext cx="2085507" cy="1395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907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Insumos adquiridos para safra 2025/6</a:t>
            </a:r>
            <a:endParaRPr lang="en-US" sz="90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324986" y="217421"/>
            <a:ext cx="1108324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>
              <a:buFont typeface="Arial"/>
              <a:buNone/>
            </a:pPr>
            <a:r>
              <a:rPr lang="pt-BR" sz="2400" b="1" dirty="0">
                <a:solidFill>
                  <a:srgbClr val="2E8B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Resultado financeiro da safra 2024/5 - Agricultura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552F9A3-3259-C492-067A-3F86D06831FD}"/>
              </a:ext>
            </a:extLst>
          </p:cNvPr>
          <p:cNvGrpSpPr/>
          <p:nvPr/>
        </p:nvGrpSpPr>
        <p:grpSpPr>
          <a:xfrm>
            <a:off x="413886" y="1200149"/>
            <a:ext cx="11319202" cy="5004705"/>
            <a:chOff x="571500" y="1200150"/>
            <a:chExt cx="8001000" cy="3597548"/>
          </a:xfrm>
        </p:grpSpPr>
        <p:sp>
          <p:nvSpPr>
            <p:cNvPr id="2" name="Shape 1">
              <a:extLst>
                <a:ext uri="{FF2B5EF4-FFF2-40B4-BE49-F238E27FC236}">
                  <a16:creationId xmlns:a16="http://schemas.microsoft.com/office/drawing/2014/main" id="{6FEAFFFA-9996-4AF8-2FCD-ECF6599375B3}"/>
                </a:ext>
              </a:extLst>
            </p:cNvPr>
            <p:cNvSpPr/>
            <p:nvPr/>
          </p:nvSpPr>
          <p:spPr>
            <a:xfrm>
              <a:off x="575072" y="1203722"/>
              <a:ext cx="1647723" cy="350044"/>
            </a:xfrm>
            <a:prstGeom prst="rect">
              <a:avLst/>
            </a:prstGeom>
            <a:solidFill>
              <a:srgbClr val="F5F5F5"/>
            </a:solidFill>
            <a:ln w="99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pt-BR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B904BBB2-D4F8-512E-06B7-24EBA58F9B65}"/>
                </a:ext>
              </a:extLst>
            </p:cNvPr>
            <p:cNvSpPr/>
            <p:nvPr/>
          </p:nvSpPr>
          <p:spPr>
            <a:xfrm>
              <a:off x="2222795" y="1203722"/>
              <a:ext cx="1035676" cy="350044"/>
            </a:xfrm>
            <a:prstGeom prst="rect">
              <a:avLst/>
            </a:prstGeom>
            <a:solidFill>
              <a:srgbClr val="F5F5F5"/>
            </a:solidFill>
            <a:ln w="99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pt-BR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 3">
              <a:extLst>
                <a:ext uri="{FF2B5EF4-FFF2-40B4-BE49-F238E27FC236}">
                  <a16:creationId xmlns:a16="http://schemas.microsoft.com/office/drawing/2014/main" id="{B0CBA193-9647-73D7-FA14-67FF39905BCE}"/>
                </a:ext>
              </a:extLst>
            </p:cNvPr>
            <p:cNvSpPr/>
            <p:nvPr/>
          </p:nvSpPr>
          <p:spPr>
            <a:xfrm>
              <a:off x="2222795" y="1238256"/>
              <a:ext cx="1035676" cy="280975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Safra 2024/25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D06B6E47-1DDA-C8B4-DE03-674E54477289}"/>
                </a:ext>
              </a:extLst>
            </p:cNvPr>
            <p:cNvSpPr/>
            <p:nvPr/>
          </p:nvSpPr>
          <p:spPr>
            <a:xfrm>
              <a:off x="3258471" y="1203722"/>
              <a:ext cx="1035676" cy="350044"/>
            </a:xfrm>
            <a:prstGeom prst="rect">
              <a:avLst/>
            </a:prstGeom>
            <a:solidFill>
              <a:srgbClr val="F5F5F5"/>
            </a:solidFill>
            <a:ln w="99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pt-BR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EFB1BFAC-7907-7D79-C641-240B25AB277F}"/>
                </a:ext>
              </a:extLst>
            </p:cNvPr>
            <p:cNvSpPr/>
            <p:nvPr/>
          </p:nvSpPr>
          <p:spPr>
            <a:xfrm>
              <a:off x="3258471" y="1238256"/>
              <a:ext cx="1035676" cy="280975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Valor por ha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Shape 6">
              <a:extLst>
                <a:ext uri="{FF2B5EF4-FFF2-40B4-BE49-F238E27FC236}">
                  <a16:creationId xmlns:a16="http://schemas.microsoft.com/office/drawing/2014/main" id="{AF3C830C-AE0D-1E42-587E-4B83FE1EE78E}"/>
                </a:ext>
              </a:extLst>
            </p:cNvPr>
            <p:cNvSpPr/>
            <p:nvPr/>
          </p:nvSpPr>
          <p:spPr>
            <a:xfrm>
              <a:off x="4294147" y="1203722"/>
              <a:ext cx="988656" cy="350044"/>
            </a:xfrm>
            <a:prstGeom prst="rect">
              <a:avLst/>
            </a:prstGeom>
            <a:solidFill>
              <a:srgbClr val="F5F5F5"/>
            </a:solidFill>
            <a:ln w="99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pt-BR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03D21BBB-8295-0F82-4668-FE0D150D6783}"/>
                </a:ext>
              </a:extLst>
            </p:cNvPr>
            <p:cNvSpPr/>
            <p:nvPr/>
          </p:nvSpPr>
          <p:spPr>
            <a:xfrm>
              <a:off x="4294147" y="1238256"/>
              <a:ext cx="988656" cy="280975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Por sc de soja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Text 8">
              <a:extLst>
                <a:ext uri="{FF2B5EF4-FFF2-40B4-BE49-F238E27FC236}">
                  <a16:creationId xmlns:a16="http://schemas.microsoft.com/office/drawing/2014/main" id="{113BD1EA-0401-DB33-6C54-448C51FFE93A}"/>
                </a:ext>
              </a:extLst>
            </p:cNvPr>
            <p:cNvSpPr/>
            <p:nvPr/>
          </p:nvSpPr>
          <p:spPr>
            <a:xfrm>
              <a:off x="664369" y="1654380"/>
              <a:ext cx="572209" cy="132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Receita total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Text 9">
              <a:extLst>
                <a:ext uri="{FF2B5EF4-FFF2-40B4-BE49-F238E27FC236}">
                  <a16:creationId xmlns:a16="http://schemas.microsoft.com/office/drawing/2014/main" id="{6A9EED23-8318-0A8E-8019-B3E9CCD19983}"/>
                </a:ext>
              </a:extLst>
            </p:cNvPr>
            <p:cNvSpPr/>
            <p:nvPr/>
          </p:nvSpPr>
          <p:spPr>
            <a:xfrm>
              <a:off x="2222795" y="1581156"/>
              <a:ext cx="1035676" cy="280975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22.709.656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Text 10">
              <a:extLst>
                <a:ext uri="{FF2B5EF4-FFF2-40B4-BE49-F238E27FC236}">
                  <a16:creationId xmlns:a16="http://schemas.microsoft.com/office/drawing/2014/main" id="{64867406-3CF8-32A2-6CF2-C003F896DE30}"/>
                </a:ext>
              </a:extLst>
            </p:cNvPr>
            <p:cNvSpPr/>
            <p:nvPr/>
          </p:nvSpPr>
          <p:spPr>
            <a:xfrm>
              <a:off x="3258471" y="1581156"/>
              <a:ext cx="1035676" cy="280975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7.570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Text 11">
              <a:extLst>
                <a:ext uri="{FF2B5EF4-FFF2-40B4-BE49-F238E27FC236}">
                  <a16:creationId xmlns:a16="http://schemas.microsoft.com/office/drawing/2014/main" id="{85DF891A-43ED-71DE-6862-7B81C19D9FBB}"/>
                </a:ext>
              </a:extLst>
            </p:cNvPr>
            <p:cNvSpPr/>
            <p:nvPr/>
          </p:nvSpPr>
          <p:spPr>
            <a:xfrm>
              <a:off x="4294147" y="1581156"/>
              <a:ext cx="988656" cy="280975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65,8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Shape 12">
              <a:extLst>
                <a:ext uri="{FF2B5EF4-FFF2-40B4-BE49-F238E27FC236}">
                  <a16:creationId xmlns:a16="http://schemas.microsoft.com/office/drawing/2014/main" id="{E7ED79A9-1509-4FB6-F39C-213E0416E1EB}"/>
                </a:ext>
              </a:extLst>
            </p:cNvPr>
            <p:cNvSpPr/>
            <p:nvPr/>
          </p:nvSpPr>
          <p:spPr>
            <a:xfrm>
              <a:off x="575072" y="1896666"/>
              <a:ext cx="4707731" cy="350044"/>
            </a:xfrm>
            <a:prstGeom prst="rect">
              <a:avLst/>
            </a:prstGeom>
            <a:solidFill>
              <a:srgbClr val="FAFAFA"/>
            </a:solidFill>
            <a:ln/>
          </p:spPr>
          <p:txBody>
            <a:bodyPr/>
            <a:lstStyle/>
            <a:p>
              <a:endParaRPr lang="pt-BR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Text 13">
              <a:extLst>
                <a:ext uri="{FF2B5EF4-FFF2-40B4-BE49-F238E27FC236}">
                  <a16:creationId xmlns:a16="http://schemas.microsoft.com/office/drawing/2014/main" id="{2EFF3981-11FC-A882-38A0-D88E418CB33A}"/>
                </a:ext>
              </a:extLst>
            </p:cNvPr>
            <p:cNvSpPr/>
            <p:nvPr/>
          </p:nvSpPr>
          <p:spPr>
            <a:xfrm>
              <a:off x="664369" y="2004423"/>
              <a:ext cx="581273" cy="132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Custos totais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Text 14">
              <a:extLst>
                <a:ext uri="{FF2B5EF4-FFF2-40B4-BE49-F238E27FC236}">
                  <a16:creationId xmlns:a16="http://schemas.microsoft.com/office/drawing/2014/main" id="{E5B143BC-3728-98C9-82B5-AB72CCDEECC3}"/>
                </a:ext>
              </a:extLst>
            </p:cNvPr>
            <p:cNvSpPr/>
            <p:nvPr/>
          </p:nvSpPr>
          <p:spPr>
            <a:xfrm>
              <a:off x="2222795" y="1931201"/>
              <a:ext cx="1035676" cy="280975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9.502.324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Text 15">
              <a:extLst>
                <a:ext uri="{FF2B5EF4-FFF2-40B4-BE49-F238E27FC236}">
                  <a16:creationId xmlns:a16="http://schemas.microsoft.com/office/drawing/2014/main" id="{F799B876-429E-0889-AAE5-FBA2D352F6DB}"/>
                </a:ext>
              </a:extLst>
            </p:cNvPr>
            <p:cNvSpPr/>
            <p:nvPr/>
          </p:nvSpPr>
          <p:spPr>
            <a:xfrm>
              <a:off x="3258471" y="1931201"/>
              <a:ext cx="1035676" cy="280975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3.649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CC00788-2C26-904C-FCD0-B7DEDE0B2CBE}"/>
                </a:ext>
              </a:extLst>
            </p:cNvPr>
            <p:cNvSpPr/>
            <p:nvPr/>
          </p:nvSpPr>
          <p:spPr>
            <a:xfrm>
              <a:off x="4294147" y="1931201"/>
              <a:ext cx="988656" cy="280975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31,7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B97AFC54-C190-7C75-84B4-B558DD802286}"/>
                </a:ext>
              </a:extLst>
            </p:cNvPr>
            <p:cNvSpPr/>
            <p:nvPr/>
          </p:nvSpPr>
          <p:spPr>
            <a:xfrm>
              <a:off x="664369" y="2354466"/>
              <a:ext cx="701380" cy="132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Despesas totais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Text 18">
              <a:extLst>
                <a:ext uri="{FF2B5EF4-FFF2-40B4-BE49-F238E27FC236}">
                  <a16:creationId xmlns:a16="http://schemas.microsoft.com/office/drawing/2014/main" id="{B7B2FF8C-38CA-79EF-02BF-D7F32A3E14AC}"/>
                </a:ext>
              </a:extLst>
            </p:cNvPr>
            <p:cNvSpPr/>
            <p:nvPr/>
          </p:nvSpPr>
          <p:spPr>
            <a:xfrm>
              <a:off x="2222795" y="2281244"/>
              <a:ext cx="1035676" cy="280975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4.755.834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Text 19">
              <a:extLst>
                <a:ext uri="{FF2B5EF4-FFF2-40B4-BE49-F238E27FC236}">
                  <a16:creationId xmlns:a16="http://schemas.microsoft.com/office/drawing/2014/main" id="{85C7A58D-98CC-6044-270A-555521A1BB16}"/>
                </a:ext>
              </a:extLst>
            </p:cNvPr>
            <p:cNvSpPr/>
            <p:nvPr/>
          </p:nvSpPr>
          <p:spPr>
            <a:xfrm>
              <a:off x="3258471" y="2281244"/>
              <a:ext cx="1035676" cy="280975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1.104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Text 20">
              <a:extLst>
                <a:ext uri="{FF2B5EF4-FFF2-40B4-BE49-F238E27FC236}">
                  <a16:creationId xmlns:a16="http://schemas.microsoft.com/office/drawing/2014/main" id="{4E4742E6-13C8-D2BC-60F9-8AE9DA96AB60}"/>
                </a:ext>
              </a:extLst>
            </p:cNvPr>
            <p:cNvSpPr/>
            <p:nvPr/>
          </p:nvSpPr>
          <p:spPr>
            <a:xfrm>
              <a:off x="4294147" y="2281244"/>
              <a:ext cx="988656" cy="280975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9,6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Shape 21">
              <a:extLst>
                <a:ext uri="{FF2B5EF4-FFF2-40B4-BE49-F238E27FC236}">
                  <a16:creationId xmlns:a16="http://schemas.microsoft.com/office/drawing/2014/main" id="{FF9CBF18-CE72-4236-2F8A-02CE664C03C0}"/>
                </a:ext>
              </a:extLst>
            </p:cNvPr>
            <p:cNvSpPr/>
            <p:nvPr/>
          </p:nvSpPr>
          <p:spPr>
            <a:xfrm>
              <a:off x="575072" y="2596753"/>
              <a:ext cx="4707731" cy="350044"/>
            </a:xfrm>
            <a:prstGeom prst="rect">
              <a:avLst/>
            </a:prstGeom>
            <a:solidFill>
              <a:srgbClr val="F0F0F0"/>
            </a:solidFill>
            <a:ln/>
          </p:spPr>
          <p:txBody>
            <a:bodyPr/>
            <a:lstStyle/>
            <a:p>
              <a:endParaRPr lang="pt-BR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Text 22">
              <a:extLst>
                <a:ext uri="{FF2B5EF4-FFF2-40B4-BE49-F238E27FC236}">
                  <a16:creationId xmlns:a16="http://schemas.microsoft.com/office/drawing/2014/main" id="{2313E2D7-3DD0-B116-EF6E-BB177EEB5143}"/>
                </a:ext>
              </a:extLst>
            </p:cNvPr>
            <p:cNvSpPr/>
            <p:nvPr/>
          </p:nvSpPr>
          <p:spPr>
            <a:xfrm>
              <a:off x="660797" y="2706296"/>
              <a:ext cx="333127" cy="132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EBITDA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Text 23">
              <a:extLst>
                <a:ext uri="{FF2B5EF4-FFF2-40B4-BE49-F238E27FC236}">
                  <a16:creationId xmlns:a16="http://schemas.microsoft.com/office/drawing/2014/main" id="{C5EBD1C9-A4E1-0A79-E8D5-F0E1BFE95C8A}"/>
                </a:ext>
              </a:extLst>
            </p:cNvPr>
            <p:cNvSpPr/>
            <p:nvPr/>
          </p:nvSpPr>
          <p:spPr>
            <a:xfrm>
              <a:off x="2222795" y="2631289"/>
              <a:ext cx="1035676" cy="280975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8.451.497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Text 24">
              <a:extLst>
                <a:ext uri="{FF2B5EF4-FFF2-40B4-BE49-F238E27FC236}">
                  <a16:creationId xmlns:a16="http://schemas.microsoft.com/office/drawing/2014/main" id="{E12EFB95-FFF9-CA63-FDA9-7F7F37C793A8}"/>
                </a:ext>
              </a:extLst>
            </p:cNvPr>
            <p:cNvSpPr/>
            <p:nvPr/>
          </p:nvSpPr>
          <p:spPr>
            <a:xfrm>
              <a:off x="3258471" y="2631289"/>
              <a:ext cx="1035676" cy="280975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2.817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Text 25">
              <a:extLst>
                <a:ext uri="{FF2B5EF4-FFF2-40B4-BE49-F238E27FC236}">
                  <a16:creationId xmlns:a16="http://schemas.microsoft.com/office/drawing/2014/main" id="{D2B539B1-10B0-4915-9DDE-16AEE5F6E9C8}"/>
                </a:ext>
              </a:extLst>
            </p:cNvPr>
            <p:cNvSpPr/>
            <p:nvPr/>
          </p:nvSpPr>
          <p:spPr>
            <a:xfrm>
              <a:off x="4294147" y="2631289"/>
              <a:ext cx="988656" cy="280975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24,5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Shape 26">
              <a:extLst>
                <a:ext uri="{FF2B5EF4-FFF2-40B4-BE49-F238E27FC236}">
                  <a16:creationId xmlns:a16="http://schemas.microsoft.com/office/drawing/2014/main" id="{EE201E6B-16A1-8729-7367-9A2626D226F7}"/>
                </a:ext>
              </a:extLst>
            </p:cNvPr>
            <p:cNvSpPr/>
            <p:nvPr/>
          </p:nvSpPr>
          <p:spPr>
            <a:xfrm>
              <a:off x="575072" y="2943225"/>
              <a:ext cx="4707731" cy="60722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pt-BR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Shape 27">
              <a:extLst>
                <a:ext uri="{FF2B5EF4-FFF2-40B4-BE49-F238E27FC236}">
                  <a16:creationId xmlns:a16="http://schemas.microsoft.com/office/drawing/2014/main" id="{7A735E82-57CD-CC44-1687-6C05651FF0A4}"/>
                </a:ext>
              </a:extLst>
            </p:cNvPr>
            <p:cNvSpPr/>
            <p:nvPr/>
          </p:nvSpPr>
          <p:spPr>
            <a:xfrm>
              <a:off x="575072" y="3003947"/>
              <a:ext cx="4707731" cy="350044"/>
            </a:xfrm>
            <a:prstGeom prst="rect">
              <a:avLst/>
            </a:prstGeom>
            <a:solidFill>
              <a:srgbClr val="FAFAFA"/>
            </a:solidFill>
            <a:ln/>
          </p:spPr>
          <p:txBody>
            <a:bodyPr/>
            <a:lstStyle/>
            <a:p>
              <a:endParaRPr lang="pt-BR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Text 28">
              <a:extLst>
                <a:ext uri="{FF2B5EF4-FFF2-40B4-BE49-F238E27FC236}">
                  <a16:creationId xmlns:a16="http://schemas.microsoft.com/office/drawing/2014/main" id="{A005DD7F-1F25-14D9-CC2F-B313BE778F9E}"/>
                </a:ext>
              </a:extLst>
            </p:cNvPr>
            <p:cNvSpPr/>
            <p:nvPr/>
          </p:nvSpPr>
          <p:spPr>
            <a:xfrm>
              <a:off x="664369" y="3111705"/>
              <a:ext cx="890605" cy="132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Depreciacao + juros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Text 29">
              <a:extLst>
                <a:ext uri="{FF2B5EF4-FFF2-40B4-BE49-F238E27FC236}">
                  <a16:creationId xmlns:a16="http://schemas.microsoft.com/office/drawing/2014/main" id="{3D86104A-AE9A-DB08-230F-549875615262}"/>
                </a:ext>
              </a:extLst>
            </p:cNvPr>
            <p:cNvSpPr/>
            <p:nvPr/>
          </p:nvSpPr>
          <p:spPr>
            <a:xfrm>
              <a:off x="2222795" y="3038481"/>
              <a:ext cx="1035676" cy="280975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3.300.000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Text 30">
              <a:extLst>
                <a:ext uri="{FF2B5EF4-FFF2-40B4-BE49-F238E27FC236}">
                  <a16:creationId xmlns:a16="http://schemas.microsoft.com/office/drawing/2014/main" id="{67270151-7501-62E6-43E5-5A9CE196193F}"/>
                </a:ext>
              </a:extLst>
            </p:cNvPr>
            <p:cNvSpPr/>
            <p:nvPr/>
          </p:nvSpPr>
          <p:spPr>
            <a:xfrm>
              <a:off x="3258471" y="3038481"/>
              <a:ext cx="1035676" cy="280975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1.100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Text 31">
              <a:extLst>
                <a:ext uri="{FF2B5EF4-FFF2-40B4-BE49-F238E27FC236}">
                  <a16:creationId xmlns:a16="http://schemas.microsoft.com/office/drawing/2014/main" id="{B4410F0D-E603-65F5-0BB1-9247895C1051}"/>
                </a:ext>
              </a:extLst>
            </p:cNvPr>
            <p:cNvSpPr/>
            <p:nvPr/>
          </p:nvSpPr>
          <p:spPr>
            <a:xfrm>
              <a:off x="4294147" y="3038481"/>
              <a:ext cx="988656" cy="280975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9,6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Shape 32">
              <a:extLst>
                <a:ext uri="{FF2B5EF4-FFF2-40B4-BE49-F238E27FC236}">
                  <a16:creationId xmlns:a16="http://schemas.microsoft.com/office/drawing/2014/main" id="{D4E1BA1A-B858-CF80-CEFD-15844F46F920}"/>
                </a:ext>
              </a:extLst>
            </p:cNvPr>
            <p:cNvSpPr/>
            <p:nvPr/>
          </p:nvSpPr>
          <p:spPr>
            <a:xfrm>
              <a:off x="575072" y="3353991"/>
              <a:ext cx="4707731" cy="64294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pt-BR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Shape 33">
              <a:extLst>
                <a:ext uri="{FF2B5EF4-FFF2-40B4-BE49-F238E27FC236}">
                  <a16:creationId xmlns:a16="http://schemas.microsoft.com/office/drawing/2014/main" id="{589FBABD-815C-EC05-27A1-FB039854B7C1}"/>
                </a:ext>
              </a:extLst>
            </p:cNvPr>
            <p:cNvSpPr/>
            <p:nvPr/>
          </p:nvSpPr>
          <p:spPr>
            <a:xfrm>
              <a:off x="575072" y="3418284"/>
              <a:ext cx="4707731" cy="350044"/>
            </a:xfrm>
            <a:prstGeom prst="rect">
              <a:avLst/>
            </a:prstGeom>
            <a:solidFill>
              <a:srgbClr val="E8E8E8"/>
            </a:solidFill>
            <a:ln/>
          </p:spPr>
          <p:txBody>
            <a:bodyPr/>
            <a:lstStyle/>
            <a:p>
              <a:endParaRPr lang="pt-BR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Text 34">
              <a:extLst>
                <a:ext uri="{FF2B5EF4-FFF2-40B4-BE49-F238E27FC236}">
                  <a16:creationId xmlns:a16="http://schemas.microsoft.com/office/drawing/2014/main" id="{55734C75-642A-0591-1E9C-36751DC4088B}"/>
                </a:ext>
              </a:extLst>
            </p:cNvPr>
            <p:cNvSpPr/>
            <p:nvPr/>
          </p:nvSpPr>
          <p:spPr>
            <a:xfrm>
              <a:off x="660797" y="3526043"/>
              <a:ext cx="231150" cy="132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Total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Text 35">
              <a:extLst>
                <a:ext uri="{FF2B5EF4-FFF2-40B4-BE49-F238E27FC236}">
                  <a16:creationId xmlns:a16="http://schemas.microsoft.com/office/drawing/2014/main" id="{B4047AD0-8F00-0757-256F-14C6BFEFBAF9}"/>
                </a:ext>
              </a:extLst>
            </p:cNvPr>
            <p:cNvSpPr/>
            <p:nvPr/>
          </p:nvSpPr>
          <p:spPr>
            <a:xfrm>
              <a:off x="2222795" y="3452819"/>
              <a:ext cx="1035676" cy="280975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5.151.497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Text 36">
              <a:extLst>
                <a:ext uri="{FF2B5EF4-FFF2-40B4-BE49-F238E27FC236}">
                  <a16:creationId xmlns:a16="http://schemas.microsoft.com/office/drawing/2014/main" id="{7DEE5010-3633-C966-290B-F82EBB37ACE1}"/>
                </a:ext>
              </a:extLst>
            </p:cNvPr>
            <p:cNvSpPr/>
            <p:nvPr/>
          </p:nvSpPr>
          <p:spPr>
            <a:xfrm>
              <a:off x="3258471" y="3452819"/>
              <a:ext cx="1035676" cy="280975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1.717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Text 37">
              <a:extLst>
                <a:ext uri="{FF2B5EF4-FFF2-40B4-BE49-F238E27FC236}">
                  <a16:creationId xmlns:a16="http://schemas.microsoft.com/office/drawing/2014/main" id="{3766A896-0F46-EC45-8F63-27DAEEEA6F78}"/>
                </a:ext>
              </a:extLst>
            </p:cNvPr>
            <p:cNvSpPr/>
            <p:nvPr/>
          </p:nvSpPr>
          <p:spPr>
            <a:xfrm>
              <a:off x="4294147" y="3452819"/>
              <a:ext cx="988656" cy="280975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14,9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Text 38">
              <a:extLst>
                <a:ext uri="{FF2B5EF4-FFF2-40B4-BE49-F238E27FC236}">
                  <a16:creationId xmlns:a16="http://schemas.microsoft.com/office/drawing/2014/main" id="{61A929F9-17CA-B47E-6B40-AB318D2FB978}"/>
                </a:ext>
              </a:extLst>
            </p:cNvPr>
            <p:cNvSpPr/>
            <p:nvPr/>
          </p:nvSpPr>
          <p:spPr>
            <a:xfrm>
              <a:off x="571500" y="3942696"/>
              <a:ext cx="3740180" cy="132744"/>
            </a:xfrm>
            <a:prstGeom prst="rect">
              <a:avLst/>
            </a:prstGeom>
            <a:noFill/>
            <a:ln/>
          </p:spPr>
          <p:txBody>
            <a:bodyPr wrap="none" lIns="68072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Soja: 65sc/há; Capim: 44M pts brachichiarão (46K / há) e 5M pts Mavuno (25K / há)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Text 39">
              <a:extLst>
                <a:ext uri="{FF2B5EF4-FFF2-40B4-BE49-F238E27FC236}">
                  <a16:creationId xmlns:a16="http://schemas.microsoft.com/office/drawing/2014/main" id="{47191A8C-051C-4714-D19B-648417AE2374}"/>
                </a:ext>
              </a:extLst>
            </p:cNvPr>
            <p:cNvSpPr/>
            <p:nvPr/>
          </p:nvSpPr>
          <p:spPr>
            <a:xfrm>
              <a:off x="571500" y="4159854"/>
              <a:ext cx="2970815" cy="132744"/>
            </a:xfrm>
            <a:prstGeom prst="rect">
              <a:avLst/>
            </a:prstGeom>
            <a:noFill/>
            <a:ln/>
          </p:spPr>
          <p:txBody>
            <a:bodyPr wrap="none" lIns="68072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Adubos e defensivos: R$ 6,6M; Calcário R$1M; Sementes: R$0,7M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Text 40">
              <a:extLst>
                <a:ext uri="{FF2B5EF4-FFF2-40B4-BE49-F238E27FC236}">
                  <a16:creationId xmlns:a16="http://schemas.microsoft.com/office/drawing/2014/main" id="{7A1BEECB-9A1A-A93D-AE35-7BEAD6184A23}"/>
                </a:ext>
              </a:extLst>
            </p:cNvPr>
            <p:cNvSpPr/>
            <p:nvPr/>
          </p:nvSpPr>
          <p:spPr>
            <a:xfrm>
              <a:off x="571500" y="4377012"/>
              <a:ext cx="1792406" cy="132744"/>
            </a:xfrm>
            <a:prstGeom prst="rect">
              <a:avLst/>
            </a:prstGeom>
            <a:noFill/>
            <a:ln/>
          </p:spPr>
          <p:txBody>
            <a:bodyPr wrap="none" lIns="68072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Manutenção: R$ 1,4M; Pessoal R$2,1M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Text 41">
              <a:extLst>
                <a:ext uri="{FF2B5EF4-FFF2-40B4-BE49-F238E27FC236}">
                  <a16:creationId xmlns:a16="http://schemas.microsoft.com/office/drawing/2014/main" id="{33DEAEF2-256D-45F8-71FD-DF9AE70E2EA9}"/>
                </a:ext>
              </a:extLst>
            </p:cNvPr>
            <p:cNvSpPr/>
            <p:nvPr/>
          </p:nvSpPr>
          <p:spPr>
            <a:xfrm>
              <a:off x="571500" y="4594173"/>
              <a:ext cx="1682496" cy="132744"/>
            </a:xfrm>
            <a:prstGeom prst="rect">
              <a:avLst/>
            </a:prstGeom>
            <a:noFill/>
            <a:ln/>
          </p:spPr>
          <p:txBody>
            <a:bodyPr wrap="none" lIns="68072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Depreciação: R$1,5M; Juros: R$1,8M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Shape 42">
              <a:extLst>
                <a:ext uri="{FF2B5EF4-FFF2-40B4-BE49-F238E27FC236}">
                  <a16:creationId xmlns:a16="http://schemas.microsoft.com/office/drawing/2014/main" id="{CD77990E-5C15-F08B-5B1A-5CFB4A82FA4E}"/>
                </a:ext>
              </a:extLst>
            </p:cNvPr>
            <p:cNvSpPr/>
            <p:nvPr/>
          </p:nvSpPr>
          <p:spPr>
            <a:xfrm>
              <a:off x="5572125" y="1200150"/>
              <a:ext cx="3000375" cy="3597548"/>
            </a:xfrm>
            <a:prstGeom prst="rect">
              <a:avLst/>
            </a:prstGeom>
            <a:solidFill>
              <a:srgbClr val="3BA55C"/>
            </a:solidFill>
            <a:ln/>
          </p:spPr>
          <p:txBody>
            <a:bodyPr/>
            <a:lstStyle/>
            <a:p>
              <a:endParaRPr lang="pt-BR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Text 43">
              <a:extLst>
                <a:ext uri="{FF2B5EF4-FFF2-40B4-BE49-F238E27FC236}">
                  <a16:creationId xmlns:a16="http://schemas.microsoft.com/office/drawing/2014/main" id="{D2507FB9-0546-47C9-778B-956664ED00EA}"/>
                </a:ext>
              </a:extLst>
            </p:cNvPr>
            <p:cNvSpPr/>
            <p:nvPr/>
          </p:nvSpPr>
          <p:spPr>
            <a:xfrm>
              <a:off x="5786438" y="1521733"/>
              <a:ext cx="2571750" cy="26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Resultados positivo: 3 scs acima de arrendamento, considerados já depreciação e juros 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Text 44">
              <a:extLst>
                <a:ext uri="{FF2B5EF4-FFF2-40B4-BE49-F238E27FC236}">
                  <a16:creationId xmlns:a16="http://schemas.microsoft.com/office/drawing/2014/main" id="{B164966A-DF61-29AF-A599-DAE42344CF2C}"/>
                </a:ext>
              </a:extLst>
            </p:cNvPr>
            <p:cNvSpPr/>
            <p:nvPr/>
          </p:nvSpPr>
          <p:spPr>
            <a:xfrm>
              <a:off x="5786438" y="2238883"/>
              <a:ext cx="710445" cy="132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Oportunidades: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Text 45">
              <a:extLst>
                <a:ext uri="{FF2B5EF4-FFF2-40B4-BE49-F238E27FC236}">
                  <a16:creationId xmlns:a16="http://schemas.microsoft.com/office/drawing/2014/main" id="{C95DA6F1-9A00-0064-807A-19BD634A58E2}"/>
                </a:ext>
              </a:extLst>
            </p:cNvPr>
            <p:cNvSpPr/>
            <p:nvPr/>
          </p:nvSpPr>
          <p:spPr>
            <a:xfrm>
              <a:off x="5786438" y="2543260"/>
              <a:ext cx="2571750" cy="265488"/>
            </a:xfrm>
            <a:prstGeom prst="rect">
              <a:avLst/>
            </a:prstGeom>
            <a:noFill/>
            <a:ln/>
          </p:spPr>
          <p:txBody>
            <a:bodyPr wrap="square" lIns="68072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Plantar 100% na palha; aproveitar ao máximo a janela de plantio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Text 46">
              <a:extLst>
                <a:ext uri="{FF2B5EF4-FFF2-40B4-BE49-F238E27FC236}">
                  <a16:creationId xmlns:a16="http://schemas.microsoft.com/office/drawing/2014/main" id="{A3F24093-95B9-B2EF-AE50-E506DE93DDB6}"/>
                </a:ext>
              </a:extLst>
            </p:cNvPr>
            <p:cNvSpPr/>
            <p:nvPr/>
          </p:nvSpPr>
          <p:spPr>
            <a:xfrm>
              <a:off x="5786438" y="3029008"/>
              <a:ext cx="2571750" cy="265488"/>
            </a:xfrm>
            <a:prstGeom prst="rect">
              <a:avLst/>
            </a:prstGeom>
            <a:noFill/>
            <a:ln/>
          </p:spPr>
          <p:txBody>
            <a:bodyPr wrap="square" lIns="68072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Garantir uma compra de insumos ainda mais assertiva na agricultura (adiantar compra, se possível a vista)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Text 47">
              <a:extLst>
                <a:ext uri="{FF2B5EF4-FFF2-40B4-BE49-F238E27FC236}">
                  <a16:creationId xmlns:a16="http://schemas.microsoft.com/office/drawing/2014/main" id="{1ABCB2E3-AA11-7204-1A4A-07DF2BD5D81C}"/>
                </a:ext>
              </a:extLst>
            </p:cNvPr>
            <p:cNvSpPr/>
            <p:nvPr/>
          </p:nvSpPr>
          <p:spPr>
            <a:xfrm>
              <a:off x="5786438" y="3594758"/>
              <a:ext cx="2571750" cy="265488"/>
            </a:xfrm>
            <a:prstGeom prst="rect">
              <a:avLst/>
            </a:prstGeom>
            <a:noFill/>
            <a:ln/>
          </p:spPr>
          <p:txBody>
            <a:bodyPr wrap="square" lIns="68072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Melhorar a gestão das manutenções dos equipamentos (checklists, contratação de um gestor de manutenção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Text 48">
              <a:extLst>
                <a:ext uri="{FF2B5EF4-FFF2-40B4-BE49-F238E27FC236}">
                  <a16:creationId xmlns:a16="http://schemas.microsoft.com/office/drawing/2014/main" id="{85B40378-C85F-256A-3D65-E9B1DE13FFCD}"/>
                </a:ext>
              </a:extLst>
            </p:cNvPr>
            <p:cNvSpPr/>
            <p:nvPr/>
          </p:nvSpPr>
          <p:spPr>
            <a:xfrm>
              <a:off x="5786438" y="4080506"/>
              <a:ext cx="2571750" cy="265488"/>
            </a:xfrm>
            <a:prstGeom prst="rect">
              <a:avLst/>
            </a:prstGeom>
            <a:noFill/>
            <a:ln/>
          </p:spPr>
          <p:txBody>
            <a:bodyPr wrap="square" lIns="68072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Procurar novas fontes de redução de custos (cortar horas extras, redução de pessoal)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C247469E-639E-7D60-DF54-D833AC4FA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704C371B-53E5-81B3-8C49-638ED7EFAF8C}"/>
              </a:ext>
            </a:extLst>
          </p:cNvPr>
          <p:cNvSpPr txBox="1"/>
          <p:nvPr/>
        </p:nvSpPr>
        <p:spPr>
          <a:xfrm>
            <a:off x="324985" y="217421"/>
            <a:ext cx="835436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pt-BR" sz="2400" b="1" dirty="0">
                <a:solidFill>
                  <a:srgbClr val="2E8B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Resultado financeiro da safra 2024/5 - Pecuária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CDD4858-B669-04F1-8B32-156F4263B7A2}"/>
              </a:ext>
            </a:extLst>
          </p:cNvPr>
          <p:cNvGrpSpPr/>
          <p:nvPr/>
        </p:nvGrpSpPr>
        <p:grpSpPr>
          <a:xfrm>
            <a:off x="571499" y="1570263"/>
            <a:ext cx="11032671" cy="4678135"/>
            <a:chOff x="571500" y="1200150"/>
            <a:chExt cx="8001000" cy="4164750"/>
          </a:xfrm>
        </p:grpSpPr>
        <p:sp>
          <p:nvSpPr>
            <p:cNvPr id="66" name="Shape 1">
              <a:extLst>
                <a:ext uri="{FF2B5EF4-FFF2-40B4-BE49-F238E27FC236}">
                  <a16:creationId xmlns:a16="http://schemas.microsoft.com/office/drawing/2014/main" id="{C7905D26-D12E-9DB3-79DA-C6418DCEEFBF}"/>
                </a:ext>
              </a:extLst>
            </p:cNvPr>
            <p:cNvSpPr/>
            <p:nvPr/>
          </p:nvSpPr>
          <p:spPr>
            <a:xfrm>
              <a:off x="575072" y="1203722"/>
              <a:ext cx="1647723" cy="350044"/>
            </a:xfrm>
            <a:prstGeom prst="rect">
              <a:avLst/>
            </a:prstGeom>
            <a:solidFill>
              <a:srgbClr val="F5F5F5"/>
            </a:solidFill>
            <a:ln w="99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pt-BR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" name="Shape 2">
              <a:extLst>
                <a:ext uri="{FF2B5EF4-FFF2-40B4-BE49-F238E27FC236}">
                  <a16:creationId xmlns:a16="http://schemas.microsoft.com/office/drawing/2014/main" id="{27CAC69D-3327-6ABC-B8B5-863D06821098}"/>
                </a:ext>
              </a:extLst>
            </p:cNvPr>
            <p:cNvSpPr/>
            <p:nvPr/>
          </p:nvSpPr>
          <p:spPr>
            <a:xfrm>
              <a:off x="2222795" y="1203722"/>
              <a:ext cx="1035676" cy="350044"/>
            </a:xfrm>
            <a:prstGeom prst="rect">
              <a:avLst/>
            </a:prstGeom>
            <a:solidFill>
              <a:srgbClr val="F5F5F5"/>
            </a:solidFill>
            <a:ln w="99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pt-BR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" name="Text 3">
              <a:extLst>
                <a:ext uri="{FF2B5EF4-FFF2-40B4-BE49-F238E27FC236}">
                  <a16:creationId xmlns:a16="http://schemas.microsoft.com/office/drawing/2014/main" id="{EEDA9BA7-E55B-EE4F-E8AE-4F4313D1DB94}"/>
                </a:ext>
              </a:extLst>
            </p:cNvPr>
            <p:cNvSpPr/>
            <p:nvPr/>
          </p:nvSpPr>
          <p:spPr>
            <a:xfrm>
              <a:off x="2222795" y="1211604"/>
              <a:ext cx="103567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Manejo 2025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" name="Shape 4">
              <a:extLst>
                <a:ext uri="{FF2B5EF4-FFF2-40B4-BE49-F238E27FC236}">
                  <a16:creationId xmlns:a16="http://schemas.microsoft.com/office/drawing/2014/main" id="{D4A9A3F3-ECD5-1AC9-5E7D-8EE8E50B0184}"/>
                </a:ext>
              </a:extLst>
            </p:cNvPr>
            <p:cNvSpPr/>
            <p:nvPr/>
          </p:nvSpPr>
          <p:spPr>
            <a:xfrm>
              <a:off x="3258471" y="1203722"/>
              <a:ext cx="1035676" cy="350044"/>
            </a:xfrm>
            <a:prstGeom prst="rect">
              <a:avLst/>
            </a:prstGeom>
            <a:solidFill>
              <a:srgbClr val="F5F5F5"/>
            </a:solidFill>
            <a:ln w="99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pt-BR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" name="Text 5">
              <a:extLst>
                <a:ext uri="{FF2B5EF4-FFF2-40B4-BE49-F238E27FC236}">
                  <a16:creationId xmlns:a16="http://schemas.microsoft.com/office/drawing/2014/main" id="{1DFDE916-4EA4-674F-4EF3-B5309997C863}"/>
                </a:ext>
              </a:extLst>
            </p:cNvPr>
            <p:cNvSpPr/>
            <p:nvPr/>
          </p:nvSpPr>
          <p:spPr>
            <a:xfrm>
              <a:off x="3258471" y="1211604"/>
              <a:ext cx="103567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Valor por ha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" name="Shape 6">
              <a:extLst>
                <a:ext uri="{FF2B5EF4-FFF2-40B4-BE49-F238E27FC236}">
                  <a16:creationId xmlns:a16="http://schemas.microsoft.com/office/drawing/2014/main" id="{4419213C-4594-5F91-F849-2687748F26D3}"/>
                </a:ext>
              </a:extLst>
            </p:cNvPr>
            <p:cNvSpPr/>
            <p:nvPr/>
          </p:nvSpPr>
          <p:spPr>
            <a:xfrm>
              <a:off x="4294147" y="1203722"/>
              <a:ext cx="988656" cy="350044"/>
            </a:xfrm>
            <a:prstGeom prst="rect">
              <a:avLst/>
            </a:prstGeom>
            <a:solidFill>
              <a:srgbClr val="F5F5F5"/>
            </a:solidFill>
            <a:ln w="99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pt-BR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" name="Text 7">
              <a:extLst>
                <a:ext uri="{FF2B5EF4-FFF2-40B4-BE49-F238E27FC236}">
                  <a16:creationId xmlns:a16="http://schemas.microsoft.com/office/drawing/2014/main" id="{E352BA7C-1EFF-D39A-1E98-F9BA455DF07A}"/>
                </a:ext>
              </a:extLst>
            </p:cNvPr>
            <p:cNvSpPr/>
            <p:nvPr/>
          </p:nvSpPr>
          <p:spPr>
            <a:xfrm>
              <a:off x="4294147" y="1211604"/>
              <a:ext cx="98865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Em @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" name="Text 8">
              <a:extLst>
                <a:ext uri="{FF2B5EF4-FFF2-40B4-BE49-F238E27FC236}">
                  <a16:creationId xmlns:a16="http://schemas.microsoft.com/office/drawing/2014/main" id="{2E7B0E7D-73C9-0BE2-C4FE-AF300234CA3B}"/>
                </a:ext>
              </a:extLst>
            </p:cNvPr>
            <p:cNvSpPr/>
            <p:nvPr/>
          </p:nvSpPr>
          <p:spPr>
            <a:xfrm>
              <a:off x="664369" y="1645401"/>
              <a:ext cx="540569" cy="150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Receita total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" name="Text 9">
              <a:extLst>
                <a:ext uri="{FF2B5EF4-FFF2-40B4-BE49-F238E27FC236}">
                  <a16:creationId xmlns:a16="http://schemas.microsoft.com/office/drawing/2014/main" id="{2420DC47-59EB-6312-B1E9-CF05D08735FD}"/>
                </a:ext>
              </a:extLst>
            </p:cNvPr>
            <p:cNvSpPr/>
            <p:nvPr/>
          </p:nvSpPr>
          <p:spPr>
            <a:xfrm>
              <a:off x="2222795" y="1554504"/>
              <a:ext cx="103567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17.666.466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Text 10">
              <a:extLst>
                <a:ext uri="{FF2B5EF4-FFF2-40B4-BE49-F238E27FC236}">
                  <a16:creationId xmlns:a16="http://schemas.microsoft.com/office/drawing/2014/main" id="{F875AF53-5459-B24B-9D84-CA3933FCD1F1}"/>
                </a:ext>
              </a:extLst>
            </p:cNvPr>
            <p:cNvSpPr/>
            <p:nvPr/>
          </p:nvSpPr>
          <p:spPr>
            <a:xfrm>
              <a:off x="3258471" y="1554504"/>
              <a:ext cx="103567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4.416,6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" name="Text 11">
              <a:extLst>
                <a:ext uri="{FF2B5EF4-FFF2-40B4-BE49-F238E27FC236}">
                  <a16:creationId xmlns:a16="http://schemas.microsoft.com/office/drawing/2014/main" id="{EEAF87B2-E486-6EEE-003D-1B93B746C3F1}"/>
                </a:ext>
              </a:extLst>
            </p:cNvPr>
            <p:cNvSpPr/>
            <p:nvPr/>
          </p:nvSpPr>
          <p:spPr>
            <a:xfrm>
              <a:off x="4294147" y="1554504"/>
              <a:ext cx="98865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14,7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" name="Shape 12">
              <a:extLst>
                <a:ext uri="{FF2B5EF4-FFF2-40B4-BE49-F238E27FC236}">
                  <a16:creationId xmlns:a16="http://schemas.microsoft.com/office/drawing/2014/main" id="{C3CDDD1B-B9B2-BF74-D891-6159ED6D5D49}"/>
                </a:ext>
              </a:extLst>
            </p:cNvPr>
            <p:cNvSpPr/>
            <p:nvPr/>
          </p:nvSpPr>
          <p:spPr>
            <a:xfrm>
              <a:off x="575072" y="1896666"/>
              <a:ext cx="4707731" cy="350044"/>
            </a:xfrm>
            <a:prstGeom prst="rect">
              <a:avLst/>
            </a:prstGeom>
            <a:solidFill>
              <a:srgbClr val="FAFAFA"/>
            </a:solidFill>
            <a:ln/>
          </p:spPr>
          <p:txBody>
            <a:bodyPr/>
            <a:lstStyle/>
            <a:p>
              <a:endParaRPr lang="pt-BR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8" name="Text 13">
              <a:extLst>
                <a:ext uri="{FF2B5EF4-FFF2-40B4-BE49-F238E27FC236}">
                  <a16:creationId xmlns:a16="http://schemas.microsoft.com/office/drawing/2014/main" id="{79632E40-37B5-F06E-45AA-AD5F74DFE1A3}"/>
                </a:ext>
              </a:extLst>
            </p:cNvPr>
            <p:cNvSpPr/>
            <p:nvPr/>
          </p:nvSpPr>
          <p:spPr>
            <a:xfrm>
              <a:off x="664369" y="1995445"/>
              <a:ext cx="971861" cy="150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Custo do gado vendido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9" name="Text 14">
              <a:extLst>
                <a:ext uri="{FF2B5EF4-FFF2-40B4-BE49-F238E27FC236}">
                  <a16:creationId xmlns:a16="http://schemas.microsoft.com/office/drawing/2014/main" id="{5B9CE631-72DF-31BA-D50B-6B0D2A7B1870}"/>
                </a:ext>
              </a:extLst>
            </p:cNvPr>
            <p:cNvSpPr/>
            <p:nvPr/>
          </p:nvSpPr>
          <p:spPr>
            <a:xfrm>
              <a:off x="2222795" y="1904548"/>
              <a:ext cx="103567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7.200.389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0" name="Text 15">
              <a:extLst>
                <a:ext uri="{FF2B5EF4-FFF2-40B4-BE49-F238E27FC236}">
                  <a16:creationId xmlns:a16="http://schemas.microsoft.com/office/drawing/2014/main" id="{C2307BB6-3C3B-298D-52C9-344A5D243BFC}"/>
                </a:ext>
              </a:extLst>
            </p:cNvPr>
            <p:cNvSpPr/>
            <p:nvPr/>
          </p:nvSpPr>
          <p:spPr>
            <a:xfrm>
              <a:off x="3258471" y="1904548"/>
              <a:ext cx="103567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1.800,1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1" name="Text 16">
              <a:extLst>
                <a:ext uri="{FF2B5EF4-FFF2-40B4-BE49-F238E27FC236}">
                  <a16:creationId xmlns:a16="http://schemas.microsoft.com/office/drawing/2014/main" id="{9D3F7CDF-0BFB-9714-036B-CB3F8214C463}"/>
                </a:ext>
              </a:extLst>
            </p:cNvPr>
            <p:cNvSpPr/>
            <p:nvPr/>
          </p:nvSpPr>
          <p:spPr>
            <a:xfrm>
              <a:off x="4294147" y="1904548"/>
              <a:ext cx="98865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6,0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" name="Text 17">
              <a:extLst>
                <a:ext uri="{FF2B5EF4-FFF2-40B4-BE49-F238E27FC236}">
                  <a16:creationId xmlns:a16="http://schemas.microsoft.com/office/drawing/2014/main" id="{B96AE717-1ABC-F672-947E-E4527CF7C8C1}"/>
                </a:ext>
              </a:extLst>
            </p:cNvPr>
            <p:cNvSpPr/>
            <p:nvPr/>
          </p:nvSpPr>
          <p:spPr>
            <a:xfrm>
              <a:off x="664369" y="2345489"/>
              <a:ext cx="659145" cy="150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Custos insumos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" name="Text 18">
              <a:extLst>
                <a:ext uri="{FF2B5EF4-FFF2-40B4-BE49-F238E27FC236}">
                  <a16:creationId xmlns:a16="http://schemas.microsoft.com/office/drawing/2014/main" id="{B986A28D-D18D-6C9C-0A22-6A7716C41698}"/>
                </a:ext>
              </a:extLst>
            </p:cNvPr>
            <p:cNvSpPr/>
            <p:nvPr/>
          </p:nvSpPr>
          <p:spPr>
            <a:xfrm>
              <a:off x="2222795" y="2254591"/>
              <a:ext cx="103567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3.914.041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4" name="Text 19">
              <a:extLst>
                <a:ext uri="{FF2B5EF4-FFF2-40B4-BE49-F238E27FC236}">
                  <a16:creationId xmlns:a16="http://schemas.microsoft.com/office/drawing/2014/main" id="{4BEE2EF8-24B1-C3FD-B5B6-151543B01F7C}"/>
                </a:ext>
              </a:extLst>
            </p:cNvPr>
            <p:cNvSpPr/>
            <p:nvPr/>
          </p:nvSpPr>
          <p:spPr>
            <a:xfrm>
              <a:off x="3258471" y="2254591"/>
              <a:ext cx="103567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978,5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5" name="Text 20">
              <a:extLst>
                <a:ext uri="{FF2B5EF4-FFF2-40B4-BE49-F238E27FC236}">
                  <a16:creationId xmlns:a16="http://schemas.microsoft.com/office/drawing/2014/main" id="{0D4C10D4-6415-D813-9942-112919B1374A}"/>
                </a:ext>
              </a:extLst>
            </p:cNvPr>
            <p:cNvSpPr/>
            <p:nvPr/>
          </p:nvSpPr>
          <p:spPr>
            <a:xfrm>
              <a:off x="4294147" y="2254591"/>
              <a:ext cx="98865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3,3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Shape 21">
              <a:extLst>
                <a:ext uri="{FF2B5EF4-FFF2-40B4-BE49-F238E27FC236}">
                  <a16:creationId xmlns:a16="http://schemas.microsoft.com/office/drawing/2014/main" id="{7791A5B9-20AD-221D-4A78-404F52C80745}"/>
                </a:ext>
              </a:extLst>
            </p:cNvPr>
            <p:cNvSpPr/>
            <p:nvPr/>
          </p:nvSpPr>
          <p:spPr>
            <a:xfrm>
              <a:off x="575072" y="2596753"/>
              <a:ext cx="4707731" cy="350044"/>
            </a:xfrm>
            <a:prstGeom prst="rect">
              <a:avLst/>
            </a:prstGeom>
            <a:solidFill>
              <a:srgbClr val="FAFAFA"/>
            </a:solidFill>
            <a:ln/>
          </p:spPr>
          <p:txBody>
            <a:bodyPr/>
            <a:lstStyle/>
            <a:p>
              <a:endParaRPr lang="pt-BR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Text 22">
              <a:extLst>
                <a:ext uri="{FF2B5EF4-FFF2-40B4-BE49-F238E27FC236}">
                  <a16:creationId xmlns:a16="http://schemas.microsoft.com/office/drawing/2014/main" id="{AF6B12FB-1239-81B2-F631-FD8B912B2E08}"/>
                </a:ext>
              </a:extLst>
            </p:cNvPr>
            <p:cNvSpPr/>
            <p:nvPr/>
          </p:nvSpPr>
          <p:spPr>
            <a:xfrm>
              <a:off x="664369" y="2695533"/>
              <a:ext cx="668445" cy="150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Despesas gerais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" name="Text 23">
              <a:extLst>
                <a:ext uri="{FF2B5EF4-FFF2-40B4-BE49-F238E27FC236}">
                  <a16:creationId xmlns:a16="http://schemas.microsoft.com/office/drawing/2014/main" id="{0CB36C77-3B43-7609-23CF-7FA6282C17F9}"/>
                </a:ext>
              </a:extLst>
            </p:cNvPr>
            <p:cNvSpPr/>
            <p:nvPr/>
          </p:nvSpPr>
          <p:spPr>
            <a:xfrm>
              <a:off x="2222795" y="2604635"/>
              <a:ext cx="103567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2.311.434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9" name="Text 24">
              <a:extLst>
                <a:ext uri="{FF2B5EF4-FFF2-40B4-BE49-F238E27FC236}">
                  <a16:creationId xmlns:a16="http://schemas.microsoft.com/office/drawing/2014/main" id="{32B76196-C835-E4C4-4D90-6D43B89DC153}"/>
                </a:ext>
              </a:extLst>
            </p:cNvPr>
            <p:cNvSpPr/>
            <p:nvPr/>
          </p:nvSpPr>
          <p:spPr>
            <a:xfrm>
              <a:off x="3258471" y="2604635"/>
              <a:ext cx="103567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577,9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0" name="Text 25">
              <a:extLst>
                <a:ext uri="{FF2B5EF4-FFF2-40B4-BE49-F238E27FC236}">
                  <a16:creationId xmlns:a16="http://schemas.microsoft.com/office/drawing/2014/main" id="{34CB205D-76DD-D521-E656-CB07340CA5C7}"/>
                </a:ext>
              </a:extLst>
            </p:cNvPr>
            <p:cNvSpPr/>
            <p:nvPr/>
          </p:nvSpPr>
          <p:spPr>
            <a:xfrm>
              <a:off x="4294147" y="2604635"/>
              <a:ext cx="98865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1,9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1" name="Shape 26">
              <a:extLst>
                <a:ext uri="{FF2B5EF4-FFF2-40B4-BE49-F238E27FC236}">
                  <a16:creationId xmlns:a16="http://schemas.microsoft.com/office/drawing/2014/main" id="{55715FEA-24CB-31E0-7C0F-DE49B7DCE064}"/>
                </a:ext>
              </a:extLst>
            </p:cNvPr>
            <p:cNvSpPr/>
            <p:nvPr/>
          </p:nvSpPr>
          <p:spPr>
            <a:xfrm>
              <a:off x="575072" y="2946797"/>
              <a:ext cx="4707731" cy="350044"/>
            </a:xfrm>
            <a:prstGeom prst="rect">
              <a:avLst/>
            </a:prstGeom>
            <a:solidFill>
              <a:srgbClr val="F0F0F0"/>
            </a:solidFill>
            <a:ln/>
          </p:spPr>
          <p:txBody>
            <a:bodyPr/>
            <a:lstStyle/>
            <a:p>
              <a:endParaRPr lang="pt-BR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2" name="Text 27">
              <a:extLst>
                <a:ext uri="{FF2B5EF4-FFF2-40B4-BE49-F238E27FC236}">
                  <a16:creationId xmlns:a16="http://schemas.microsoft.com/office/drawing/2014/main" id="{813FF300-357A-426E-7AC9-E6D0FD6B3CAC}"/>
                </a:ext>
              </a:extLst>
            </p:cNvPr>
            <p:cNvSpPr/>
            <p:nvPr/>
          </p:nvSpPr>
          <p:spPr>
            <a:xfrm>
              <a:off x="660797" y="3047362"/>
              <a:ext cx="310391" cy="150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EBITDA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" name="Text 28">
              <a:extLst>
                <a:ext uri="{FF2B5EF4-FFF2-40B4-BE49-F238E27FC236}">
                  <a16:creationId xmlns:a16="http://schemas.microsoft.com/office/drawing/2014/main" id="{CE124300-4609-5B50-75E0-DB166A9FEC0A}"/>
                </a:ext>
              </a:extLst>
            </p:cNvPr>
            <p:cNvSpPr/>
            <p:nvPr/>
          </p:nvSpPr>
          <p:spPr>
            <a:xfrm>
              <a:off x="2222795" y="2954680"/>
              <a:ext cx="103567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4.240.602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4" name="Text 29">
              <a:extLst>
                <a:ext uri="{FF2B5EF4-FFF2-40B4-BE49-F238E27FC236}">
                  <a16:creationId xmlns:a16="http://schemas.microsoft.com/office/drawing/2014/main" id="{5DBAB1F7-D469-B86C-AD35-A808403660A6}"/>
                </a:ext>
              </a:extLst>
            </p:cNvPr>
            <p:cNvSpPr/>
            <p:nvPr/>
          </p:nvSpPr>
          <p:spPr>
            <a:xfrm>
              <a:off x="3258471" y="2954680"/>
              <a:ext cx="103567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1.060,2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5" name="Text 30">
              <a:extLst>
                <a:ext uri="{FF2B5EF4-FFF2-40B4-BE49-F238E27FC236}">
                  <a16:creationId xmlns:a16="http://schemas.microsoft.com/office/drawing/2014/main" id="{F27A85F7-F0E0-1DAF-CEC0-03B1C03ABEFF}"/>
                </a:ext>
              </a:extLst>
            </p:cNvPr>
            <p:cNvSpPr/>
            <p:nvPr/>
          </p:nvSpPr>
          <p:spPr>
            <a:xfrm>
              <a:off x="4294147" y="2954680"/>
              <a:ext cx="98865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3,5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" name="Shape 31">
              <a:extLst>
                <a:ext uri="{FF2B5EF4-FFF2-40B4-BE49-F238E27FC236}">
                  <a16:creationId xmlns:a16="http://schemas.microsoft.com/office/drawing/2014/main" id="{18F9F484-0099-A8FD-6069-0721D1C12BA8}"/>
                </a:ext>
              </a:extLst>
            </p:cNvPr>
            <p:cNvSpPr/>
            <p:nvPr/>
          </p:nvSpPr>
          <p:spPr>
            <a:xfrm>
              <a:off x="575072" y="3293269"/>
              <a:ext cx="4707731" cy="60722"/>
            </a:xfrm>
            <a:prstGeom prst="rect">
              <a:avLst/>
            </a:prstGeom>
            <a:solidFill>
              <a:srgbClr val="FAFAFA"/>
            </a:solidFill>
            <a:ln/>
          </p:spPr>
          <p:txBody>
            <a:bodyPr/>
            <a:lstStyle/>
            <a:p>
              <a:endParaRPr lang="pt-BR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9" name="Shape 32">
              <a:extLst>
                <a:ext uri="{FF2B5EF4-FFF2-40B4-BE49-F238E27FC236}">
                  <a16:creationId xmlns:a16="http://schemas.microsoft.com/office/drawing/2014/main" id="{B913ED5E-501E-7280-9B72-93710358CC24}"/>
                </a:ext>
              </a:extLst>
            </p:cNvPr>
            <p:cNvSpPr/>
            <p:nvPr/>
          </p:nvSpPr>
          <p:spPr>
            <a:xfrm>
              <a:off x="575072" y="3293269"/>
              <a:ext cx="4707731" cy="60722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pt-BR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0" name="Text 33">
              <a:extLst>
                <a:ext uri="{FF2B5EF4-FFF2-40B4-BE49-F238E27FC236}">
                  <a16:creationId xmlns:a16="http://schemas.microsoft.com/office/drawing/2014/main" id="{EF3AB4BC-DB7B-3047-C625-90E5DBC79E33}"/>
                </a:ext>
              </a:extLst>
            </p:cNvPr>
            <p:cNvSpPr/>
            <p:nvPr/>
          </p:nvSpPr>
          <p:spPr>
            <a:xfrm>
              <a:off x="664369" y="3452770"/>
              <a:ext cx="832359" cy="150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Depreciacao + juros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1" name="Text 34">
              <a:extLst>
                <a:ext uri="{FF2B5EF4-FFF2-40B4-BE49-F238E27FC236}">
                  <a16:creationId xmlns:a16="http://schemas.microsoft.com/office/drawing/2014/main" id="{9D72D43F-34FD-BB9E-FC97-AB0832FCF27E}"/>
                </a:ext>
              </a:extLst>
            </p:cNvPr>
            <p:cNvSpPr/>
            <p:nvPr/>
          </p:nvSpPr>
          <p:spPr>
            <a:xfrm>
              <a:off x="2222795" y="3361873"/>
              <a:ext cx="103567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1.800.000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2" name="Text 35">
              <a:extLst>
                <a:ext uri="{FF2B5EF4-FFF2-40B4-BE49-F238E27FC236}">
                  <a16:creationId xmlns:a16="http://schemas.microsoft.com/office/drawing/2014/main" id="{2DFC3BEA-BD5B-3522-7358-12F4483BB26D}"/>
                </a:ext>
              </a:extLst>
            </p:cNvPr>
            <p:cNvSpPr/>
            <p:nvPr/>
          </p:nvSpPr>
          <p:spPr>
            <a:xfrm>
              <a:off x="3258471" y="3361873"/>
              <a:ext cx="103567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450,0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" name="Text 36">
              <a:extLst>
                <a:ext uri="{FF2B5EF4-FFF2-40B4-BE49-F238E27FC236}">
                  <a16:creationId xmlns:a16="http://schemas.microsoft.com/office/drawing/2014/main" id="{4C3832A1-5B6D-03F0-743B-6C0205E72C3F}"/>
                </a:ext>
              </a:extLst>
            </p:cNvPr>
            <p:cNvSpPr/>
            <p:nvPr/>
          </p:nvSpPr>
          <p:spPr>
            <a:xfrm>
              <a:off x="4294147" y="3361873"/>
              <a:ext cx="98865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1,5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" name="Shape 37">
              <a:extLst>
                <a:ext uri="{FF2B5EF4-FFF2-40B4-BE49-F238E27FC236}">
                  <a16:creationId xmlns:a16="http://schemas.microsoft.com/office/drawing/2014/main" id="{C00365AA-0F0C-43D5-4B0D-7B8778CBB16B}"/>
                </a:ext>
              </a:extLst>
            </p:cNvPr>
            <p:cNvSpPr/>
            <p:nvPr/>
          </p:nvSpPr>
          <p:spPr>
            <a:xfrm>
              <a:off x="575072" y="3704034"/>
              <a:ext cx="4707731" cy="64294"/>
            </a:xfrm>
            <a:prstGeom prst="rect">
              <a:avLst/>
            </a:prstGeom>
            <a:solidFill>
              <a:srgbClr val="FAFAFA"/>
            </a:solidFill>
            <a:ln/>
          </p:spPr>
          <p:txBody>
            <a:bodyPr/>
            <a:lstStyle/>
            <a:p>
              <a:endParaRPr lang="pt-BR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" name="Shape 38">
              <a:extLst>
                <a:ext uri="{FF2B5EF4-FFF2-40B4-BE49-F238E27FC236}">
                  <a16:creationId xmlns:a16="http://schemas.microsoft.com/office/drawing/2014/main" id="{7F2301ED-F849-3650-440E-94FC794B5650}"/>
                </a:ext>
              </a:extLst>
            </p:cNvPr>
            <p:cNvSpPr/>
            <p:nvPr/>
          </p:nvSpPr>
          <p:spPr>
            <a:xfrm>
              <a:off x="575072" y="3704034"/>
              <a:ext cx="4707731" cy="64294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pt-BR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" name="Shape 39">
              <a:extLst>
                <a:ext uri="{FF2B5EF4-FFF2-40B4-BE49-F238E27FC236}">
                  <a16:creationId xmlns:a16="http://schemas.microsoft.com/office/drawing/2014/main" id="{92488C73-0A7C-9520-DDAB-585AFA3B7DE5}"/>
                </a:ext>
              </a:extLst>
            </p:cNvPr>
            <p:cNvSpPr/>
            <p:nvPr/>
          </p:nvSpPr>
          <p:spPr>
            <a:xfrm>
              <a:off x="575072" y="3768328"/>
              <a:ext cx="4707731" cy="350044"/>
            </a:xfrm>
            <a:prstGeom prst="rect">
              <a:avLst/>
            </a:prstGeom>
            <a:solidFill>
              <a:srgbClr val="E8E8E8"/>
            </a:solidFill>
            <a:ln/>
          </p:spPr>
          <p:txBody>
            <a:bodyPr/>
            <a:lstStyle/>
            <a:p>
              <a:endParaRPr lang="pt-BR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" name="Text 40">
              <a:extLst>
                <a:ext uri="{FF2B5EF4-FFF2-40B4-BE49-F238E27FC236}">
                  <a16:creationId xmlns:a16="http://schemas.microsoft.com/office/drawing/2014/main" id="{6906FE9E-5B25-8870-8641-A9A2C57E93D4}"/>
                </a:ext>
              </a:extLst>
            </p:cNvPr>
            <p:cNvSpPr/>
            <p:nvPr/>
          </p:nvSpPr>
          <p:spPr>
            <a:xfrm>
              <a:off x="660797" y="3867108"/>
              <a:ext cx="217390" cy="150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Total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" name="Text 41">
              <a:extLst>
                <a:ext uri="{FF2B5EF4-FFF2-40B4-BE49-F238E27FC236}">
                  <a16:creationId xmlns:a16="http://schemas.microsoft.com/office/drawing/2014/main" id="{3003C5E1-0D81-18F5-6C84-450EF9F81151}"/>
                </a:ext>
              </a:extLst>
            </p:cNvPr>
            <p:cNvSpPr/>
            <p:nvPr/>
          </p:nvSpPr>
          <p:spPr>
            <a:xfrm>
              <a:off x="2222795" y="3776210"/>
              <a:ext cx="103567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2.440.602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" name="Text 42">
              <a:extLst>
                <a:ext uri="{FF2B5EF4-FFF2-40B4-BE49-F238E27FC236}">
                  <a16:creationId xmlns:a16="http://schemas.microsoft.com/office/drawing/2014/main" id="{CF21B4B0-4484-D4FB-F23F-4488A56B97CC}"/>
                </a:ext>
              </a:extLst>
            </p:cNvPr>
            <p:cNvSpPr/>
            <p:nvPr/>
          </p:nvSpPr>
          <p:spPr>
            <a:xfrm>
              <a:off x="3258471" y="3776210"/>
              <a:ext cx="103567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610,2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0" name="Text 43">
              <a:extLst>
                <a:ext uri="{FF2B5EF4-FFF2-40B4-BE49-F238E27FC236}">
                  <a16:creationId xmlns:a16="http://schemas.microsoft.com/office/drawing/2014/main" id="{A1E674D2-73B6-2E06-7E05-5BE86913875D}"/>
                </a:ext>
              </a:extLst>
            </p:cNvPr>
            <p:cNvSpPr/>
            <p:nvPr/>
          </p:nvSpPr>
          <p:spPr>
            <a:xfrm>
              <a:off x="4294147" y="3776210"/>
              <a:ext cx="988656" cy="33428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2,0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1" name="Text 44">
              <a:extLst>
                <a:ext uri="{FF2B5EF4-FFF2-40B4-BE49-F238E27FC236}">
                  <a16:creationId xmlns:a16="http://schemas.microsoft.com/office/drawing/2014/main" id="{B2A77DF3-E0CB-11F1-E131-BA0B0675B792}"/>
                </a:ext>
              </a:extLst>
            </p:cNvPr>
            <p:cNvSpPr/>
            <p:nvPr/>
          </p:nvSpPr>
          <p:spPr>
            <a:xfrm>
              <a:off x="571500" y="4283760"/>
              <a:ext cx="2394638" cy="150700"/>
            </a:xfrm>
            <a:prstGeom prst="rect">
              <a:avLst/>
            </a:prstGeom>
            <a:noFill/>
            <a:ln/>
          </p:spPr>
          <p:txBody>
            <a:bodyPr wrap="none" lIns="68072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2313 machos média de 20@; 868 fêmeas média de 14@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2" name="Text 45">
              <a:extLst>
                <a:ext uri="{FF2B5EF4-FFF2-40B4-BE49-F238E27FC236}">
                  <a16:creationId xmlns:a16="http://schemas.microsoft.com/office/drawing/2014/main" id="{E91832E3-E2F5-00E9-AF01-1C9A22F60222}"/>
                </a:ext>
              </a:extLst>
            </p:cNvPr>
            <p:cNvSpPr/>
            <p:nvPr/>
          </p:nvSpPr>
          <p:spPr>
            <a:xfrm>
              <a:off x="571500" y="4500919"/>
              <a:ext cx="2512052" cy="150700"/>
            </a:xfrm>
            <a:prstGeom prst="rect">
              <a:avLst/>
            </a:prstGeom>
            <a:noFill/>
            <a:ln/>
          </p:spPr>
          <p:txBody>
            <a:bodyPr wrap="none" lIns="68072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Valor médio compra Machos: R$280/@ e fêmeas R$427/@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" name="Text 46">
              <a:extLst>
                <a:ext uri="{FF2B5EF4-FFF2-40B4-BE49-F238E27FC236}">
                  <a16:creationId xmlns:a16="http://schemas.microsoft.com/office/drawing/2014/main" id="{3ED10EF7-B131-28F1-080D-118369E29D97}"/>
                </a:ext>
              </a:extLst>
            </p:cNvPr>
            <p:cNvSpPr/>
            <p:nvPr/>
          </p:nvSpPr>
          <p:spPr>
            <a:xfrm>
              <a:off x="571500" y="4718078"/>
              <a:ext cx="2145861" cy="150700"/>
            </a:xfrm>
            <a:prstGeom prst="rect">
              <a:avLst/>
            </a:prstGeom>
            <a:noFill/>
            <a:ln/>
          </p:spPr>
          <p:txBody>
            <a:bodyPr wrap="none" lIns="68072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Milho posto na fazenda R$65; silagem a R$0,14/kg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4" name="Text 47">
              <a:extLst>
                <a:ext uri="{FF2B5EF4-FFF2-40B4-BE49-F238E27FC236}">
                  <a16:creationId xmlns:a16="http://schemas.microsoft.com/office/drawing/2014/main" id="{4E983960-5A7F-960C-5C75-17D26DCE8E79}"/>
                </a:ext>
              </a:extLst>
            </p:cNvPr>
            <p:cNvSpPr/>
            <p:nvPr/>
          </p:nvSpPr>
          <p:spPr>
            <a:xfrm>
              <a:off x="571500" y="4935237"/>
              <a:ext cx="734569" cy="150700"/>
            </a:xfrm>
            <a:prstGeom prst="rect">
              <a:avLst/>
            </a:prstGeom>
            <a:noFill/>
            <a:ln/>
          </p:spPr>
          <p:txBody>
            <a:bodyPr wrap="none" lIns="68072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Pessoal: R$1,9M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5" name="Text 48">
              <a:extLst>
                <a:ext uri="{FF2B5EF4-FFF2-40B4-BE49-F238E27FC236}">
                  <a16:creationId xmlns:a16="http://schemas.microsoft.com/office/drawing/2014/main" id="{DE9110C3-52C9-606B-5A53-A3608DA9E1FB}"/>
                </a:ext>
              </a:extLst>
            </p:cNvPr>
            <p:cNvSpPr/>
            <p:nvPr/>
          </p:nvSpPr>
          <p:spPr>
            <a:xfrm>
              <a:off x="571500" y="5152396"/>
              <a:ext cx="641568" cy="150700"/>
            </a:xfrm>
            <a:prstGeom prst="rect">
              <a:avLst/>
            </a:prstGeom>
            <a:noFill/>
            <a:ln/>
          </p:spPr>
          <p:txBody>
            <a:bodyPr wrap="none" lIns="68072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Juros: R$1,8M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6" name="Shape 49">
              <a:extLst>
                <a:ext uri="{FF2B5EF4-FFF2-40B4-BE49-F238E27FC236}">
                  <a16:creationId xmlns:a16="http://schemas.microsoft.com/office/drawing/2014/main" id="{B839E801-71E3-64C8-ACAE-403CF37F49EC}"/>
                </a:ext>
              </a:extLst>
            </p:cNvPr>
            <p:cNvSpPr/>
            <p:nvPr/>
          </p:nvSpPr>
          <p:spPr>
            <a:xfrm>
              <a:off x="5572125" y="1200150"/>
              <a:ext cx="3000375" cy="4164750"/>
            </a:xfrm>
            <a:prstGeom prst="rect">
              <a:avLst/>
            </a:prstGeom>
            <a:solidFill>
              <a:srgbClr val="3BA55C"/>
            </a:solidFill>
            <a:ln/>
          </p:spPr>
          <p:txBody>
            <a:bodyPr/>
            <a:lstStyle/>
            <a:p>
              <a:endParaRPr lang="pt-BR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7" name="Text 50">
              <a:extLst>
                <a:ext uri="{FF2B5EF4-FFF2-40B4-BE49-F238E27FC236}">
                  <a16:creationId xmlns:a16="http://schemas.microsoft.com/office/drawing/2014/main" id="{DAF7F245-E609-6A2F-DB11-F72AFBA80CF4}"/>
                </a:ext>
              </a:extLst>
            </p:cNvPr>
            <p:cNvSpPr/>
            <p:nvPr/>
          </p:nvSpPr>
          <p:spPr>
            <a:xfrm>
              <a:off x="5786438" y="1499122"/>
              <a:ext cx="2571750" cy="150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Média de R$610/ha dado 4000ha dedicados para pecuária 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8" name="Text 51">
              <a:extLst>
                <a:ext uri="{FF2B5EF4-FFF2-40B4-BE49-F238E27FC236}">
                  <a16:creationId xmlns:a16="http://schemas.microsoft.com/office/drawing/2014/main" id="{726BE4BA-2B68-AD47-7AEE-005EFFFDC00A}"/>
                </a:ext>
              </a:extLst>
            </p:cNvPr>
            <p:cNvSpPr/>
            <p:nvPr/>
          </p:nvSpPr>
          <p:spPr>
            <a:xfrm>
              <a:off x="5786438" y="2069895"/>
              <a:ext cx="664958" cy="150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Oportunidades: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9" name="Text 52">
              <a:extLst>
                <a:ext uri="{FF2B5EF4-FFF2-40B4-BE49-F238E27FC236}">
                  <a16:creationId xmlns:a16="http://schemas.microsoft.com/office/drawing/2014/main" id="{C16DAB1D-1B38-54DC-C230-B78C6101CA14}"/>
                </a:ext>
              </a:extLst>
            </p:cNvPr>
            <p:cNvSpPr/>
            <p:nvPr/>
          </p:nvSpPr>
          <p:spPr>
            <a:xfrm>
              <a:off x="5786438" y="2369949"/>
              <a:ext cx="2571750" cy="452101"/>
            </a:xfrm>
            <a:prstGeom prst="rect">
              <a:avLst/>
            </a:prstGeom>
            <a:noFill/>
            <a:ln/>
          </p:spPr>
          <p:txBody>
            <a:bodyPr wrap="square" lIns="68072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Executar plano ILP e validar ganhos na intensificação (pelo menos 2 UAs / ha) – também possibilita 100% palha para soja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0" name="Text 53">
              <a:extLst>
                <a:ext uri="{FF2B5EF4-FFF2-40B4-BE49-F238E27FC236}">
                  <a16:creationId xmlns:a16="http://schemas.microsoft.com/office/drawing/2014/main" id="{01E09401-2BB6-38F6-B2BF-AE3C203CC4B7}"/>
                </a:ext>
              </a:extLst>
            </p:cNvPr>
            <p:cNvSpPr/>
            <p:nvPr/>
          </p:nvSpPr>
          <p:spPr>
            <a:xfrm>
              <a:off x="5786438" y="2931048"/>
              <a:ext cx="2571750" cy="301401"/>
            </a:xfrm>
            <a:prstGeom prst="rect">
              <a:avLst/>
            </a:prstGeom>
            <a:noFill/>
            <a:ln/>
          </p:spPr>
          <p:txBody>
            <a:bodyPr wrap="square" lIns="68072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Melhorar processos operacionais (garantia de sal e água limpa em abundância)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1" name="Text 54">
              <a:extLst>
                <a:ext uri="{FF2B5EF4-FFF2-40B4-BE49-F238E27FC236}">
                  <a16:creationId xmlns:a16="http://schemas.microsoft.com/office/drawing/2014/main" id="{EA8EFED2-5837-8AA6-EEBC-AD603C2CCF48}"/>
                </a:ext>
              </a:extLst>
            </p:cNvPr>
            <p:cNvSpPr/>
            <p:nvPr/>
          </p:nvSpPr>
          <p:spPr>
            <a:xfrm>
              <a:off x="5786438" y="3341444"/>
              <a:ext cx="2571750" cy="452101"/>
            </a:xfrm>
            <a:prstGeom prst="rect">
              <a:avLst/>
            </a:prstGeom>
            <a:noFill/>
            <a:ln/>
          </p:spPr>
          <p:txBody>
            <a:bodyPr wrap="square" lIns="68072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Compras de gado em oportunidade próximas. Com sobras de caixa, ir comprando gado na região e evitar comissão + fretes altos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2" name="Text 55">
              <a:extLst>
                <a:ext uri="{FF2B5EF4-FFF2-40B4-BE49-F238E27FC236}">
                  <a16:creationId xmlns:a16="http://schemas.microsoft.com/office/drawing/2014/main" id="{93936A59-D5C3-5C36-80D5-3A62297B83D8}"/>
                </a:ext>
              </a:extLst>
            </p:cNvPr>
            <p:cNvSpPr/>
            <p:nvPr/>
          </p:nvSpPr>
          <p:spPr>
            <a:xfrm>
              <a:off x="5786438" y="3902542"/>
              <a:ext cx="2571750" cy="301401"/>
            </a:xfrm>
            <a:prstGeom prst="rect">
              <a:avLst/>
            </a:prstGeom>
            <a:noFill/>
            <a:ln/>
          </p:spPr>
          <p:txBody>
            <a:bodyPr wrap="square" lIns="68072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Nas secas, utilizar ferramenta de sequestro com silagem para aumentar ganho de GMD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3" name="Text 56">
              <a:extLst>
                <a:ext uri="{FF2B5EF4-FFF2-40B4-BE49-F238E27FC236}">
                  <a16:creationId xmlns:a16="http://schemas.microsoft.com/office/drawing/2014/main" id="{40D7EABE-1A3C-C48F-EA28-6BFD72E9E2D8}"/>
                </a:ext>
              </a:extLst>
            </p:cNvPr>
            <p:cNvSpPr/>
            <p:nvPr/>
          </p:nvSpPr>
          <p:spPr>
            <a:xfrm>
              <a:off x="5786438" y="4308283"/>
              <a:ext cx="2571750" cy="301401"/>
            </a:xfrm>
            <a:prstGeom prst="rect">
              <a:avLst/>
            </a:prstGeom>
            <a:noFill/>
            <a:ln/>
          </p:spPr>
          <p:txBody>
            <a:bodyPr wrap="square" lIns="68072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Continuar estratégia de redução da cria (apenas nelores) e avançar com compras de machos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385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FE740228-1164-3F23-C33E-E574DBC9B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DD9D079-A389-942B-C4C9-EE9FC5815DC9}"/>
              </a:ext>
            </a:extLst>
          </p:cNvPr>
          <p:cNvSpPr txBox="1"/>
          <p:nvPr/>
        </p:nvSpPr>
        <p:spPr>
          <a:xfrm>
            <a:off x="324986" y="217421"/>
            <a:ext cx="646244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>
              <a:buFont typeface="Arial"/>
              <a:buNone/>
            </a:pPr>
            <a:r>
              <a:rPr lang="pt-BR" sz="2400" b="1" dirty="0">
                <a:solidFill>
                  <a:srgbClr val="2E8B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Situação de Caixa atual e projetado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D0B23198-6CAB-DB09-3799-C2421FD93DCF}"/>
              </a:ext>
            </a:extLst>
          </p:cNvPr>
          <p:cNvSpPr/>
          <p:nvPr/>
        </p:nvSpPr>
        <p:spPr>
          <a:xfrm>
            <a:off x="500062" y="1828866"/>
            <a:ext cx="3834099" cy="629095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0201F8C2-CDD7-CD31-7B9C-3B34BD480B62}"/>
              </a:ext>
            </a:extLst>
          </p:cNvPr>
          <p:cNvSpPr/>
          <p:nvPr/>
        </p:nvSpPr>
        <p:spPr>
          <a:xfrm>
            <a:off x="500062" y="1923098"/>
            <a:ext cx="3834099" cy="4406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Indicador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41DC9F0B-6BBF-ACA0-6304-407B4A36AB4D}"/>
              </a:ext>
            </a:extLst>
          </p:cNvPr>
          <p:cNvSpPr/>
          <p:nvPr/>
        </p:nvSpPr>
        <p:spPr>
          <a:xfrm>
            <a:off x="4334161" y="1828866"/>
            <a:ext cx="1935989" cy="629095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pt-BR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CC45DFF4-A209-176C-C336-7F3AEE79493C}"/>
              </a:ext>
            </a:extLst>
          </p:cNvPr>
          <p:cNvSpPr/>
          <p:nvPr/>
        </p:nvSpPr>
        <p:spPr>
          <a:xfrm>
            <a:off x="4966327" y="1947703"/>
            <a:ext cx="671658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Out/2024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5B37AB47-05A6-E786-E2E6-C9CCA360A4EF}"/>
              </a:ext>
            </a:extLst>
          </p:cNvPr>
          <p:cNvSpPr/>
          <p:nvPr/>
        </p:nvSpPr>
        <p:spPr>
          <a:xfrm>
            <a:off x="4915815" y="2139071"/>
            <a:ext cx="772648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(Realizado)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B083B476-387D-AEDB-B072-2B1FD4618620}"/>
              </a:ext>
            </a:extLst>
          </p:cNvPr>
          <p:cNvSpPr/>
          <p:nvPr/>
        </p:nvSpPr>
        <p:spPr>
          <a:xfrm>
            <a:off x="6270150" y="1828866"/>
            <a:ext cx="1935989" cy="629095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pt-BR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0C143730-2E6D-8AAE-087B-0D9A463F99D6}"/>
              </a:ext>
            </a:extLst>
          </p:cNvPr>
          <p:cNvSpPr/>
          <p:nvPr/>
        </p:nvSpPr>
        <p:spPr>
          <a:xfrm>
            <a:off x="6922338" y="1947703"/>
            <a:ext cx="631584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Set/2025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C01162A0-B3E9-7B98-1BB4-71CD36B2D083}"/>
              </a:ext>
            </a:extLst>
          </p:cNvPr>
          <p:cNvSpPr/>
          <p:nvPr/>
        </p:nvSpPr>
        <p:spPr>
          <a:xfrm>
            <a:off x="6851804" y="2139071"/>
            <a:ext cx="772648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(Realizado)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FE932ED7-3F22-5D63-9F83-6AA5A3F9E08B}"/>
              </a:ext>
            </a:extLst>
          </p:cNvPr>
          <p:cNvSpPr/>
          <p:nvPr/>
        </p:nvSpPr>
        <p:spPr>
          <a:xfrm>
            <a:off x="8206140" y="1828866"/>
            <a:ext cx="1790126" cy="629095"/>
          </a:xfrm>
          <a:prstGeom prst="rect">
            <a:avLst/>
          </a:prstGeom>
          <a:solidFill>
            <a:srgbClr val="757575"/>
          </a:solidFill>
          <a:ln/>
        </p:spPr>
        <p:txBody>
          <a:bodyPr/>
          <a:lstStyle/>
          <a:p>
            <a:endParaRPr lang="pt-BR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24BF904F-0986-97D1-EB90-264FECEC7DC5}"/>
              </a:ext>
            </a:extLst>
          </p:cNvPr>
          <p:cNvSpPr/>
          <p:nvPr/>
        </p:nvSpPr>
        <p:spPr>
          <a:xfrm>
            <a:off x="8782205" y="1947703"/>
            <a:ext cx="637995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Jan/2026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2D69F6F2-4FF7-D8C1-246A-6B28DAB8CCA0}"/>
              </a:ext>
            </a:extLst>
          </p:cNvPr>
          <p:cNvSpPr/>
          <p:nvPr/>
        </p:nvSpPr>
        <p:spPr>
          <a:xfrm>
            <a:off x="8767762" y="2139071"/>
            <a:ext cx="666849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(Previsto)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E51A89EF-9542-B181-52AA-82E934B4FC55}"/>
              </a:ext>
            </a:extLst>
          </p:cNvPr>
          <p:cNvSpPr/>
          <p:nvPr/>
        </p:nvSpPr>
        <p:spPr>
          <a:xfrm>
            <a:off x="9996267" y="1828866"/>
            <a:ext cx="1736820" cy="629095"/>
          </a:xfrm>
          <a:prstGeom prst="rect">
            <a:avLst/>
          </a:prstGeom>
          <a:solidFill>
            <a:srgbClr val="757575"/>
          </a:solidFill>
          <a:ln/>
        </p:spPr>
        <p:txBody>
          <a:bodyPr/>
          <a:lstStyle/>
          <a:p>
            <a:endParaRPr lang="pt-BR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FCDDC481-AB0E-55FC-5BCC-DC8F234E9600}"/>
              </a:ext>
            </a:extLst>
          </p:cNvPr>
          <p:cNvSpPr/>
          <p:nvPr/>
        </p:nvSpPr>
        <p:spPr>
          <a:xfrm>
            <a:off x="10531234" y="1947703"/>
            <a:ext cx="666850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Dez/2026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78CC9050-B338-1D9C-9820-87AF17D5CE7C}"/>
              </a:ext>
            </a:extLst>
          </p:cNvPr>
          <p:cNvSpPr/>
          <p:nvPr/>
        </p:nvSpPr>
        <p:spPr>
          <a:xfrm>
            <a:off x="10531252" y="2139071"/>
            <a:ext cx="666849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(Previsto)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561C26B6-278D-61E4-A904-0258DB70318C}"/>
              </a:ext>
            </a:extLst>
          </p:cNvPr>
          <p:cNvSpPr/>
          <p:nvPr/>
        </p:nvSpPr>
        <p:spPr>
          <a:xfrm>
            <a:off x="500062" y="2453209"/>
            <a:ext cx="3834099" cy="4406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Estoque de Dívida (R$)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454AD90E-1DD3-F22D-88BE-58A5F1E469C2}"/>
              </a:ext>
            </a:extLst>
          </p:cNvPr>
          <p:cNvSpPr/>
          <p:nvPr/>
        </p:nvSpPr>
        <p:spPr>
          <a:xfrm>
            <a:off x="4334161" y="2453209"/>
            <a:ext cx="1935989" cy="4406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24.666.522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EA8E7D19-8B37-B3A3-A9C1-483B5DF23112}"/>
              </a:ext>
            </a:extLst>
          </p:cNvPr>
          <p:cNvSpPr/>
          <p:nvPr/>
        </p:nvSpPr>
        <p:spPr>
          <a:xfrm>
            <a:off x="6270150" y="2453209"/>
            <a:ext cx="1935989" cy="4406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25.670.493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FC08D98D-A505-A72D-38A5-7111CB97A0FA}"/>
              </a:ext>
            </a:extLst>
          </p:cNvPr>
          <p:cNvSpPr/>
          <p:nvPr/>
        </p:nvSpPr>
        <p:spPr>
          <a:xfrm>
            <a:off x="8206140" y="2453209"/>
            <a:ext cx="1790126" cy="4406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19.948.661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FB7BBB8-D217-2130-7160-91BF8454D0E0}"/>
              </a:ext>
            </a:extLst>
          </p:cNvPr>
          <p:cNvSpPr/>
          <p:nvPr/>
        </p:nvSpPr>
        <p:spPr>
          <a:xfrm>
            <a:off x="9996267" y="2453209"/>
            <a:ext cx="1736820" cy="4406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12.756.946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7EBC0CFC-FC7E-8C56-2322-E2F312D9B676}"/>
              </a:ext>
            </a:extLst>
          </p:cNvPr>
          <p:cNvSpPr/>
          <p:nvPr/>
        </p:nvSpPr>
        <p:spPr>
          <a:xfrm>
            <a:off x="500062" y="2889089"/>
            <a:ext cx="11233025" cy="43552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pt-BR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6057D300-C145-E6A7-8B10-2AA3B91CC4F4}"/>
              </a:ext>
            </a:extLst>
          </p:cNvPr>
          <p:cNvSpPr/>
          <p:nvPr/>
        </p:nvSpPr>
        <p:spPr>
          <a:xfrm>
            <a:off x="500062" y="2886537"/>
            <a:ext cx="3834099" cy="4406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Caixa Final (R$)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8820C52C-717D-73AE-2D1C-713F6B1AF457}"/>
              </a:ext>
            </a:extLst>
          </p:cNvPr>
          <p:cNvSpPr/>
          <p:nvPr/>
        </p:nvSpPr>
        <p:spPr>
          <a:xfrm>
            <a:off x="4334161" y="2886537"/>
            <a:ext cx="1935989" cy="4406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4.076.268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638550A3-5E49-5B11-2D82-2C9D59178BB1}"/>
              </a:ext>
            </a:extLst>
          </p:cNvPr>
          <p:cNvSpPr/>
          <p:nvPr/>
        </p:nvSpPr>
        <p:spPr>
          <a:xfrm>
            <a:off x="6270150" y="2886537"/>
            <a:ext cx="1935989" cy="4406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1.739.703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709DF423-E46D-A695-398B-12BF49F1A5B1}"/>
              </a:ext>
            </a:extLst>
          </p:cNvPr>
          <p:cNvSpPr/>
          <p:nvPr/>
        </p:nvSpPr>
        <p:spPr>
          <a:xfrm>
            <a:off x="8206140" y="2886537"/>
            <a:ext cx="1790126" cy="4406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6.774.573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31748525-140A-71F3-FDC0-AAFD0767FDE4}"/>
              </a:ext>
            </a:extLst>
          </p:cNvPr>
          <p:cNvSpPr/>
          <p:nvPr/>
        </p:nvSpPr>
        <p:spPr>
          <a:xfrm>
            <a:off x="9996267" y="2886537"/>
            <a:ext cx="1736820" cy="4406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4.772.262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13046077-849D-2430-FA6C-77A117D914EE}"/>
              </a:ext>
            </a:extLst>
          </p:cNvPr>
          <p:cNvSpPr/>
          <p:nvPr/>
        </p:nvSpPr>
        <p:spPr>
          <a:xfrm>
            <a:off x="500062" y="3322064"/>
            <a:ext cx="3834099" cy="4406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Endividamento Líquido (R$)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894AFAF4-BFFB-B61A-2EB2-96ABD7F016C4}"/>
              </a:ext>
            </a:extLst>
          </p:cNvPr>
          <p:cNvSpPr/>
          <p:nvPr/>
        </p:nvSpPr>
        <p:spPr>
          <a:xfrm>
            <a:off x="4334161" y="3322064"/>
            <a:ext cx="1935989" cy="4406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20.590.254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94936B17-DEC8-F043-00E9-834C656D3E88}"/>
              </a:ext>
            </a:extLst>
          </p:cNvPr>
          <p:cNvSpPr/>
          <p:nvPr/>
        </p:nvSpPr>
        <p:spPr>
          <a:xfrm>
            <a:off x="6270150" y="3322064"/>
            <a:ext cx="1935989" cy="4406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23.930.790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93128A7F-DA7B-50C1-3419-325E5516373F}"/>
              </a:ext>
            </a:extLst>
          </p:cNvPr>
          <p:cNvSpPr/>
          <p:nvPr/>
        </p:nvSpPr>
        <p:spPr>
          <a:xfrm>
            <a:off x="8206140" y="3322064"/>
            <a:ext cx="1790126" cy="4406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13.174.089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3CF17EF7-336C-3E75-8353-C70DFD435067}"/>
              </a:ext>
            </a:extLst>
          </p:cNvPr>
          <p:cNvSpPr/>
          <p:nvPr/>
        </p:nvSpPr>
        <p:spPr>
          <a:xfrm>
            <a:off x="9996267" y="3322064"/>
            <a:ext cx="1736820" cy="4406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7.984.684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E47CA26B-8CF0-E78F-EA1E-62B4AA928791}"/>
              </a:ext>
            </a:extLst>
          </p:cNvPr>
          <p:cNvSpPr/>
          <p:nvPr/>
        </p:nvSpPr>
        <p:spPr>
          <a:xfrm>
            <a:off x="500062" y="4116483"/>
            <a:ext cx="11233025" cy="155995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Shape 33">
            <a:extLst>
              <a:ext uri="{FF2B5EF4-FFF2-40B4-BE49-F238E27FC236}">
                <a16:creationId xmlns:a16="http://schemas.microsoft.com/office/drawing/2014/main" id="{9CB8C692-0D34-415A-59DB-67C00B57FB62}"/>
              </a:ext>
            </a:extLst>
          </p:cNvPr>
          <p:cNvSpPr/>
          <p:nvPr/>
        </p:nvSpPr>
        <p:spPr>
          <a:xfrm>
            <a:off x="500062" y="4116483"/>
            <a:ext cx="35103" cy="155995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pt-BR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0652CEF6-AAFA-8D45-9999-3CF10E4ACF0D}"/>
              </a:ext>
            </a:extLst>
          </p:cNvPr>
          <p:cNvSpPr/>
          <p:nvPr/>
        </p:nvSpPr>
        <p:spPr>
          <a:xfrm>
            <a:off x="675578" y="4300208"/>
            <a:ext cx="2537554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Premissas para Projeção (Dez/2026):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82EA5E02-3E2E-9CE8-A4DA-DCEF87D15066}"/>
              </a:ext>
            </a:extLst>
          </p:cNvPr>
          <p:cNvSpPr/>
          <p:nvPr/>
        </p:nvSpPr>
        <p:spPr>
          <a:xfrm>
            <a:off x="534060" y="4623557"/>
            <a:ext cx="160300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• 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D2D2B64C-B05F-AA58-CE7E-4ABB2004108E}"/>
              </a:ext>
            </a:extLst>
          </p:cNvPr>
          <p:cNvSpPr/>
          <p:nvPr/>
        </p:nvSpPr>
        <p:spPr>
          <a:xfrm>
            <a:off x="721079" y="4623557"/>
            <a:ext cx="339837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Soja: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71B43580-99A1-0509-EE4F-2C1A56A2B741}"/>
              </a:ext>
            </a:extLst>
          </p:cNvPr>
          <p:cNvSpPr/>
          <p:nvPr/>
        </p:nvSpPr>
        <p:spPr>
          <a:xfrm>
            <a:off x="1044195" y="4623557"/>
            <a:ext cx="1713611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50 sc/ha (Produtividade)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490FF01C-EBA7-4C7E-F839-0E7EFFD612BE}"/>
              </a:ext>
            </a:extLst>
          </p:cNvPr>
          <p:cNvSpPr/>
          <p:nvPr/>
        </p:nvSpPr>
        <p:spPr>
          <a:xfrm>
            <a:off x="534060" y="4845271"/>
            <a:ext cx="160300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• 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39">
            <a:extLst>
              <a:ext uri="{FF2B5EF4-FFF2-40B4-BE49-F238E27FC236}">
                <a16:creationId xmlns:a16="http://schemas.microsoft.com/office/drawing/2014/main" id="{22D18D63-ACBB-2188-F970-D82B48573EA2}"/>
              </a:ext>
            </a:extLst>
          </p:cNvPr>
          <p:cNvSpPr/>
          <p:nvPr/>
        </p:nvSpPr>
        <p:spPr>
          <a:xfrm>
            <a:off x="710193" y="4845271"/>
            <a:ext cx="484107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Capim: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0E916B35-DC99-B96C-0CA1-0A5BD6C724CF}"/>
              </a:ext>
            </a:extLst>
          </p:cNvPr>
          <p:cNvSpPr/>
          <p:nvPr/>
        </p:nvSpPr>
        <p:spPr>
          <a:xfrm>
            <a:off x="1177136" y="4845271"/>
            <a:ext cx="1731243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35 kg/ha (Produtividade)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41">
            <a:extLst>
              <a:ext uri="{FF2B5EF4-FFF2-40B4-BE49-F238E27FC236}">
                <a16:creationId xmlns:a16="http://schemas.microsoft.com/office/drawing/2014/main" id="{8D07C86F-E924-9685-BE77-BB104C7FE2E6}"/>
              </a:ext>
            </a:extLst>
          </p:cNvPr>
          <p:cNvSpPr/>
          <p:nvPr/>
        </p:nvSpPr>
        <p:spPr>
          <a:xfrm>
            <a:off x="534060" y="5066988"/>
            <a:ext cx="160300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• 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66B1E7E9-D678-A69B-60AE-D711DD3A8B62}"/>
              </a:ext>
            </a:extLst>
          </p:cNvPr>
          <p:cNvSpPr/>
          <p:nvPr/>
        </p:nvSpPr>
        <p:spPr>
          <a:xfrm>
            <a:off x="710193" y="5066988"/>
            <a:ext cx="413575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Gado: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3">
            <a:extLst>
              <a:ext uri="{FF2B5EF4-FFF2-40B4-BE49-F238E27FC236}">
                <a16:creationId xmlns:a16="http://schemas.microsoft.com/office/drawing/2014/main" id="{997E5912-D56F-2BEC-BCAB-AE71D49FEAF3}"/>
              </a:ext>
            </a:extLst>
          </p:cNvPr>
          <p:cNvSpPr/>
          <p:nvPr/>
        </p:nvSpPr>
        <p:spPr>
          <a:xfrm>
            <a:off x="1105763" y="5066988"/>
            <a:ext cx="1679947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Venda de 1.700 cabeças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44">
            <a:extLst>
              <a:ext uri="{FF2B5EF4-FFF2-40B4-BE49-F238E27FC236}">
                <a16:creationId xmlns:a16="http://schemas.microsoft.com/office/drawing/2014/main" id="{9CF57346-B9A5-673A-01A4-3E1669D66565}"/>
              </a:ext>
            </a:extLst>
          </p:cNvPr>
          <p:cNvSpPr/>
          <p:nvPr/>
        </p:nvSpPr>
        <p:spPr>
          <a:xfrm>
            <a:off x="534060" y="5288702"/>
            <a:ext cx="160300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• 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5">
            <a:extLst>
              <a:ext uri="{FF2B5EF4-FFF2-40B4-BE49-F238E27FC236}">
                <a16:creationId xmlns:a16="http://schemas.microsoft.com/office/drawing/2014/main" id="{F4307205-BA69-006A-5138-84CC83373DA2}"/>
              </a:ext>
            </a:extLst>
          </p:cNvPr>
          <p:cNvSpPr/>
          <p:nvPr/>
        </p:nvSpPr>
        <p:spPr>
          <a:xfrm>
            <a:off x="710193" y="5288702"/>
            <a:ext cx="1030731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Investimentos: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46">
            <a:extLst>
              <a:ext uri="{FF2B5EF4-FFF2-40B4-BE49-F238E27FC236}">
                <a16:creationId xmlns:a16="http://schemas.microsoft.com/office/drawing/2014/main" id="{0ACE849D-38AB-2ACF-BA5D-69360C3F4CAB}"/>
              </a:ext>
            </a:extLst>
          </p:cNvPr>
          <p:cNvSpPr/>
          <p:nvPr/>
        </p:nvSpPr>
        <p:spPr>
          <a:xfrm>
            <a:off x="1676087" y="5288702"/>
            <a:ext cx="3233257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Sem novos investimentos ou compras de gado 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31D23384-6D30-FCD1-4EE2-9B27710BDD86}"/>
              </a:ext>
            </a:extLst>
          </p:cNvPr>
          <p:cNvSpPr/>
          <p:nvPr/>
        </p:nvSpPr>
        <p:spPr>
          <a:xfrm>
            <a:off x="5688463" y="3934142"/>
            <a:ext cx="1981200" cy="457618"/>
          </a:xfrm>
          <a:prstGeom prst="wedgeRectCallout">
            <a:avLst>
              <a:gd name="adj1" fmla="val 24771"/>
              <a:gd name="adj2" fmla="val -7718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Antes das vendas capim e gado</a:t>
            </a: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10F1F461-5806-6496-C11E-DB35DE5BCE20}"/>
              </a:ext>
            </a:extLst>
          </p:cNvPr>
          <p:cNvSpPr/>
          <p:nvPr/>
        </p:nvSpPr>
        <p:spPr>
          <a:xfrm>
            <a:off x="8401533" y="3934141"/>
            <a:ext cx="1197428" cy="457619"/>
          </a:xfrm>
          <a:prstGeom prst="wedgeRectCallout">
            <a:avLst>
              <a:gd name="adj1" fmla="val -10284"/>
              <a:gd name="adj2" fmla="val -7877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Após vendas</a:t>
            </a:r>
          </a:p>
        </p:txBody>
      </p:sp>
    </p:spTree>
    <p:extLst>
      <p:ext uri="{BB962C8B-B14F-4D97-AF65-F5344CB8AC3E}">
        <p14:creationId xmlns:p14="http://schemas.microsoft.com/office/powerpoint/2010/main" val="3106038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D4A5067A-AF5B-1B80-5290-1D6F84FB0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543F3C1-8942-2A28-5F08-6B7B0C1C0114}"/>
              </a:ext>
            </a:extLst>
          </p:cNvPr>
          <p:cNvSpPr txBox="1"/>
          <p:nvPr/>
        </p:nvSpPr>
        <p:spPr>
          <a:xfrm>
            <a:off x="324986" y="217421"/>
            <a:ext cx="646244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pt-BR" sz="2400" b="1" dirty="0">
                <a:solidFill>
                  <a:srgbClr val="2E8B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Estratégia de 2025/6</a:t>
            </a: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C9C43C11-1ADB-4B2B-490D-00D7470C98D4}"/>
              </a:ext>
            </a:extLst>
          </p:cNvPr>
          <p:cNvSpPr/>
          <p:nvPr/>
        </p:nvSpPr>
        <p:spPr>
          <a:xfrm>
            <a:off x="571500" y="1441270"/>
            <a:ext cx="342900" cy="3429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pt-BR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FA6A9F98-D61E-EEAA-CB2A-04ADAD9F2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1526995"/>
            <a:ext cx="171450" cy="171450"/>
          </a:xfrm>
          <a:prstGeom prst="rect">
            <a:avLst/>
          </a:prstGeom>
        </p:spPr>
      </p:pic>
      <p:sp>
        <p:nvSpPr>
          <p:cNvPr id="5" name="Text 4">
            <a:extLst>
              <a:ext uri="{FF2B5EF4-FFF2-40B4-BE49-F238E27FC236}">
                <a16:creationId xmlns:a16="http://schemas.microsoft.com/office/drawing/2014/main" id="{D60C10C4-050B-716B-F6C2-532094F8E488}"/>
              </a:ext>
            </a:extLst>
          </p:cNvPr>
          <p:cNvSpPr/>
          <p:nvPr/>
        </p:nvSpPr>
        <p:spPr>
          <a:xfrm>
            <a:off x="1028700" y="1504998"/>
            <a:ext cx="1330492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Estratégias Gerais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31C5985C-E706-7559-153F-F952092FEC55}"/>
              </a:ext>
            </a:extLst>
          </p:cNvPr>
          <p:cNvSpPr/>
          <p:nvPr/>
        </p:nvSpPr>
        <p:spPr>
          <a:xfrm>
            <a:off x="571500" y="2174323"/>
            <a:ext cx="11084344" cy="86118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69393594-EA23-E7D7-1D56-105354DD8DFA}"/>
              </a:ext>
            </a:extLst>
          </p:cNvPr>
          <p:cNvSpPr/>
          <p:nvPr/>
        </p:nvSpPr>
        <p:spPr>
          <a:xfrm>
            <a:off x="571500" y="2174323"/>
            <a:ext cx="28575" cy="86118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pt-BR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1B4FF426-5058-806F-90F5-E67029220926}"/>
              </a:ext>
            </a:extLst>
          </p:cNvPr>
          <p:cNvSpPr/>
          <p:nvPr/>
        </p:nvSpPr>
        <p:spPr>
          <a:xfrm>
            <a:off x="742950" y="2317582"/>
            <a:ext cx="1947649" cy="3959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Licenciamento Ambiental: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68F6E80F-4FF0-7231-6696-0FA3E16AFC10}"/>
              </a:ext>
            </a:extLst>
          </p:cNvPr>
          <p:cNvSpPr/>
          <p:nvPr/>
        </p:nvSpPr>
        <p:spPr>
          <a:xfrm>
            <a:off x="681235" y="2538751"/>
            <a:ext cx="4531690" cy="3959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Continuar o processo de licenciamento para reduzir juros em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002933B-A15C-7DD3-57AD-FDAE309606A0}"/>
              </a:ext>
            </a:extLst>
          </p:cNvPr>
          <p:cNvSpPr/>
          <p:nvPr/>
        </p:nvSpPr>
        <p:spPr>
          <a:xfrm>
            <a:off x="5231096" y="2548475"/>
            <a:ext cx="618759" cy="3959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R$ 3,5M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49402A6E-5217-D318-790F-961B98279261}"/>
              </a:ext>
            </a:extLst>
          </p:cNvPr>
          <p:cNvSpPr/>
          <p:nvPr/>
        </p:nvSpPr>
        <p:spPr>
          <a:xfrm>
            <a:off x="5868026" y="2539753"/>
            <a:ext cx="2035814" cy="3959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mitigar riscos ambientais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4DF4ABDB-CAD3-FD91-95E2-C152296FF4E4}"/>
              </a:ext>
            </a:extLst>
          </p:cNvPr>
          <p:cNvSpPr/>
          <p:nvPr/>
        </p:nvSpPr>
        <p:spPr>
          <a:xfrm>
            <a:off x="571499" y="3140655"/>
            <a:ext cx="11084344" cy="92901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0DBD7B20-5CF3-D25C-7D94-36A42C41552D}"/>
              </a:ext>
            </a:extLst>
          </p:cNvPr>
          <p:cNvSpPr/>
          <p:nvPr/>
        </p:nvSpPr>
        <p:spPr>
          <a:xfrm>
            <a:off x="571500" y="3140655"/>
            <a:ext cx="28575" cy="929015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pt-BR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44DE7B2C-1816-F381-DBE4-961E26E82EB3}"/>
              </a:ext>
            </a:extLst>
          </p:cNvPr>
          <p:cNvSpPr/>
          <p:nvPr/>
        </p:nvSpPr>
        <p:spPr>
          <a:xfrm>
            <a:off x="742950" y="3233873"/>
            <a:ext cx="1880323" cy="427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Arrendamento de Terras: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7C2EB1FB-2FF3-5FCB-94B7-06EDFFD6F58E}"/>
              </a:ext>
            </a:extLst>
          </p:cNvPr>
          <p:cNvSpPr/>
          <p:nvPr/>
        </p:nvSpPr>
        <p:spPr>
          <a:xfrm>
            <a:off x="692121" y="3483676"/>
            <a:ext cx="2850139" cy="427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Retomar o plano de arrendamento de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28AB8D5A-8C87-C2DE-79E4-B674D79D8080}"/>
              </a:ext>
            </a:extLst>
          </p:cNvPr>
          <p:cNvSpPr/>
          <p:nvPr/>
        </p:nvSpPr>
        <p:spPr>
          <a:xfrm>
            <a:off x="3544993" y="3483774"/>
            <a:ext cx="637995" cy="427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1.500 ha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DA7BFDE9-CA97-5CF8-3CA2-492DCEDED1AB}"/>
              </a:ext>
            </a:extLst>
          </p:cNvPr>
          <p:cNvSpPr/>
          <p:nvPr/>
        </p:nvSpPr>
        <p:spPr>
          <a:xfrm>
            <a:off x="4187299" y="3487119"/>
            <a:ext cx="2778005" cy="427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não concretizados em 2024, gerando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028CF412-FC6A-2E5E-1944-2E1ACEBC725C}"/>
              </a:ext>
            </a:extLst>
          </p:cNvPr>
          <p:cNvSpPr/>
          <p:nvPr/>
        </p:nvSpPr>
        <p:spPr>
          <a:xfrm>
            <a:off x="6954418" y="3501350"/>
            <a:ext cx="480901" cy="427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R$ 2M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41404C60-E5F8-C7BF-4114-54A217D0DBBE}"/>
              </a:ext>
            </a:extLst>
          </p:cNvPr>
          <p:cNvSpPr/>
          <p:nvPr/>
        </p:nvSpPr>
        <p:spPr>
          <a:xfrm>
            <a:off x="7453028" y="3488023"/>
            <a:ext cx="1846659" cy="427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adicionais em caixa livre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1BB676FA-5966-F2D4-7B70-3A9D77DA46F7}"/>
              </a:ext>
            </a:extLst>
          </p:cNvPr>
          <p:cNvSpPr/>
          <p:nvPr/>
        </p:nvSpPr>
        <p:spPr>
          <a:xfrm>
            <a:off x="571499" y="4280379"/>
            <a:ext cx="11084344" cy="1717649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CC4747D1-E629-A0D3-DC48-58BE39D0F931}"/>
              </a:ext>
            </a:extLst>
          </p:cNvPr>
          <p:cNvSpPr/>
          <p:nvPr/>
        </p:nvSpPr>
        <p:spPr>
          <a:xfrm>
            <a:off x="571500" y="4280379"/>
            <a:ext cx="28575" cy="1717649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pt-BR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008F818C-51AC-7065-DDE8-FBBE7029848D}"/>
              </a:ext>
            </a:extLst>
          </p:cNvPr>
          <p:cNvSpPr/>
          <p:nvPr/>
        </p:nvSpPr>
        <p:spPr>
          <a:xfrm>
            <a:off x="742950" y="4610849"/>
            <a:ext cx="2204130" cy="5680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Renovação de Equipamentos: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FD8F6B7A-5762-63BC-A6C5-90425B0D9C34}"/>
              </a:ext>
            </a:extLst>
          </p:cNvPr>
          <p:cNvSpPr/>
          <p:nvPr/>
        </p:nvSpPr>
        <p:spPr>
          <a:xfrm>
            <a:off x="721178" y="5044689"/>
            <a:ext cx="9513823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Trocar apenas equipamentos essenciais (2 tratores para plantio, caminhão pipa, carretas Luize e Darlan, tratores para colheita de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D8320633-1917-85DA-D5B4-EEC061681ABF}"/>
              </a:ext>
            </a:extLst>
          </p:cNvPr>
          <p:cNvSpPr/>
          <p:nvPr/>
        </p:nvSpPr>
        <p:spPr>
          <a:xfrm>
            <a:off x="742950" y="5092976"/>
            <a:ext cx="1792157" cy="5680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capim, fábrica de ração)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217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052300FB-47EB-A53B-E1D1-EEF065A27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F00F30F9-B18A-C617-EAA0-8890CA13B5FB}"/>
              </a:ext>
            </a:extLst>
          </p:cNvPr>
          <p:cNvSpPr txBox="1"/>
          <p:nvPr/>
        </p:nvSpPr>
        <p:spPr>
          <a:xfrm>
            <a:off x="324986" y="217421"/>
            <a:ext cx="646244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>
              <a:buFont typeface="Arial"/>
              <a:buNone/>
            </a:pPr>
            <a:r>
              <a:rPr lang="pt-BR" sz="2400" b="1" dirty="0">
                <a:solidFill>
                  <a:srgbClr val="2E8B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Estratégia de 2025/6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23CD894-70DB-63B6-AE56-CAFA8D9B00BE}"/>
              </a:ext>
            </a:extLst>
          </p:cNvPr>
          <p:cNvGrpSpPr/>
          <p:nvPr/>
        </p:nvGrpSpPr>
        <p:grpSpPr>
          <a:xfrm>
            <a:off x="434747" y="1531386"/>
            <a:ext cx="11233025" cy="3602235"/>
            <a:chOff x="500063" y="1531386"/>
            <a:chExt cx="9143999" cy="3602235"/>
          </a:xfrm>
        </p:grpSpPr>
        <p:sp>
          <p:nvSpPr>
            <p:cNvPr id="3" name="Shape 3">
              <a:extLst>
                <a:ext uri="{FF2B5EF4-FFF2-40B4-BE49-F238E27FC236}">
                  <a16:creationId xmlns:a16="http://schemas.microsoft.com/office/drawing/2014/main" id="{C23D0AA5-C324-7B78-B4D4-693EC24E2363}"/>
                </a:ext>
              </a:extLst>
            </p:cNvPr>
            <p:cNvSpPr/>
            <p:nvPr/>
          </p:nvSpPr>
          <p:spPr>
            <a:xfrm>
              <a:off x="500063" y="1531386"/>
              <a:ext cx="4446984" cy="433983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pt-BR" sz="1100"/>
            </a:p>
          </p:txBody>
        </p:sp>
        <p:sp>
          <p:nvSpPr>
            <p:cNvPr id="25" name="Text 4">
              <a:extLst>
                <a:ext uri="{FF2B5EF4-FFF2-40B4-BE49-F238E27FC236}">
                  <a16:creationId xmlns:a16="http://schemas.microsoft.com/office/drawing/2014/main" id="{8B7F2ADD-0BAC-119B-A0A6-C79DED924069}"/>
                </a:ext>
              </a:extLst>
            </p:cNvPr>
            <p:cNvSpPr/>
            <p:nvPr/>
          </p:nvSpPr>
          <p:spPr>
            <a:xfrm>
              <a:off x="500063" y="1543449"/>
              <a:ext cx="4446984" cy="409856"/>
            </a:xfrm>
            <a:prstGeom prst="rect">
              <a:avLst/>
            </a:prstGeom>
            <a:noFill/>
            <a:ln/>
          </p:spPr>
          <p:txBody>
            <a:bodyPr wrap="square" lIns="170053" tIns="119126" rIns="170053" bIns="119126" rtlCol="0" anchor="ctr">
              <a:spAutoFit/>
            </a:bodyPr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🌾 Agricultura</a:t>
              </a:r>
              <a:endParaRPr lang="en-US" sz="1100" dirty="0"/>
            </a:p>
          </p:txBody>
        </p:sp>
        <p:sp>
          <p:nvSpPr>
            <p:cNvPr id="26" name="Shape 5">
              <a:extLst>
                <a:ext uri="{FF2B5EF4-FFF2-40B4-BE49-F238E27FC236}">
                  <a16:creationId xmlns:a16="http://schemas.microsoft.com/office/drawing/2014/main" id="{D5C7DAC7-FF80-AAEA-15AB-0CB32E11A0EE}"/>
                </a:ext>
              </a:extLst>
            </p:cNvPr>
            <p:cNvSpPr/>
            <p:nvPr/>
          </p:nvSpPr>
          <p:spPr>
            <a:xfrm>
              <a:off x="500063" y="2093956"/>
              <a:ext cx="4446984" cy="539353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pt-BR" sz="1100"/>
            </a:p>
          </p:txBody>
        </p:sp>
        <p:sp>
          <p:nvSpPr>
            <p:cNvPr id="27" name="Shape 6">
              <a:extLst>
                <a:ext uri="{FF2B5EF4-FFF2-40B4-BE49-F238E27FC236}">
                  <a16:creationId xmlns:a16="http://schemas.microsoft.com/office/drawing/2014/main" id="{99064135-FB1D-3A61-8FD8-5C33BD5C9DD6}"/>
                </a:ext>
              </a:extLst>
            </p:cNvPr>
            <p:cNvSpPr/>
            <p:nvPr/>
          </p:nvSpPr>
          <p:spPr>
            <a:xfrm>
              <a:off x="500063" y="2093956"/>
              <a:ext cx="28575" cy="539353"/>
            </a:xfrm>
            <a:prstGeom prst="rect">
              <a:avLst/>
            </a:prstGeom>
            <a:solidFill>
              <a:srgbClr val="4CAF50"/>
            </a:solidFill>
            <a:ln/>
          </p:spPr>
          <p:txBody>
            <a:bodyPr/>
            <a:lstStyle/>
            <a:p>
              <a:endParaRPr lang="pt-BR" sz="1100"/>
            </a:p>
          </p:txBody>
        </p:sp>
        <p:sp>
          <p:nvSpPr>
            <p:cNvPr id="28" name="Text 7">
              <a:extLst>
                <a:ext uri="{FF2B5EF4-FFF2-40B4-BE49-F238E27FC236}">
                  <a16:creationId xmlns:a16="http://schemas.microsoft.com/office/drawing/2014/main" id="{425F6489-29BC-B018-7724-25F8C1C48637}"/>
                </a:ext>
              </a:extLst>
            </p:cNvPr>
            <p:cNvSpPr/>
            <p:nvPr/>
          </p:nvSpPr>
          <p:spPr>
            <a:xfrm>
              <a:off x="628650" y="2189697"/>
              <a:ext cx="1079144" cy="169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E7D32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Plantio 100% Palha</a:t>
              </a:r>
              <a:endParaRPr lang="en-US" sz="1100" dirty="0"/>
            </a:p>
          </p:txBody>
        </p:sp>
        <p:sp>
          <p:nvSpPr>
            <p:cNvPr id="29" name="Text 8">
              <a:extLst>
                <a:ext uri="{FF2B5EF4-FFF2-40B4-BE49-F238E27FC236}">
                  <a16:creationId xmlns:a16="http://schemas.microsoft.com/office/drawing/2014/main" id="{9274DBC6-DE29-CAE3-32E0-50EBC63366CE}"/>
                </a:ext>
              </a:extLst>
            </p:cNvPr>
            <p:cNvSpPr/>
            <p:nvPr/>
          </p:nvSpPr>
          <p:spPr>
            <a:xfrm>
              <a:off x="628650" y="2373649"/>
              <a:ext cx="4069951" cy="169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333333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Aproveitar ao máximo a janela de plantio para melhorar qualidade do solo </a:t>
              </a:r>
              <a:endParaRPr lang="en-US" sz="1100" dirty="0"/>
            </a:p>
          </p:txBody>
        </p:sp>
        <p:sp>
          <p:nvSpPr>
            <p:cNvPr id="30" name="Shape 9">
              <a:extLst>
                <a:ext uri="{FF2B5EF4-FFF2-40B4-BE49-F238E27FC236}">
                  <a16:creationId xmlns:a16="http://schemas.microsoft.com/office/drawing/2014/main" id="{0AEC4F8A-CDBB-2436-CC29-3DBCB32CB549}"/>
                </a:ext>
              </a:extLst>
            </p:cNvPr>
            <p:cNvSpPr/>
            <p:nvPr/>
          </p:nvSpPr>
          <p:spPr>
            <a:xfrm>
              <a:off x="500063" y="2719034"/>
              <a:ext cx="4446984" cy="539353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pt-BR" sz="1100"/>
            </a:p>
          </p:txBody>
        </p:sp>
        <p:sp>
          <p:nvSpPr>
            <p:cNvPr id="31" name="Shape 10">
              <a:extLst>
                <a:ext uri="{FF2B5EF4-FFF2-40B4-BE49-F238E27FC236}">
                  <a16:creationId xmlns:a16="http://schemas.microsoft.com/office/drawing/2014/main" id="{BB04199E-5B9A-2FC1-4E26-2F32C67DF24D}"/>
                </a:ext>
              </a:extLst>
            </p:cNvPr>
            <p:cNvSpPr/>
            <p:nvPr/>
          </p:nvSpPr>
          <p:spPr>
            <a:xfrm>
              <a:off x="500063" y="2719034"/>
              <a:ext cx="28575" cy="539353"/>
            </a:xfrm>
            <a:prstGeom prst="rect">
              <a:avLst/>
            </a:prstGeom>
            <a:solidFill>
              <a:srgbClr val="4CAF50"/>
            </a:solidFill>
            <a:ln/>
          </p:spPr>
          <p:txBody>
            <a:bodyPr/>
            <a:lstStyle/>
            <a:p>
              <a:endParaRPr lang="pt-BR" sz="1100"/>
            </a:p>
          </p:txBody>
        </p:sp>
        <p:sp>
          <p:nvSpPr>
            <p:cNvPr id="32" name="Text 11">
              <a:extLst>
                <a:ext uri="{FF2B5EF4-FFF2-40B4-BE49-F238E27FC236}">
                  <a16:creationId xmlns:a16="http://schemas.microsoft.com/office/drawing/2014/main" id="{C24DE527-B221-0EB6-75C6-8895D1498E27}"/>
                </a:ext>
              </a:extLst>
            </p:cNvPr>
            <p:cNvSpPr/>
            <p:nvPr/>
          </p:nvSpPr>
          <p:spPr>
            <a:xfrm>
              <a:off x="628650" y="2814776"/>
              <a:ext cx="1708101" cy="169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E7D32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Compra Assertiva de Insumos</a:t>
              </a:r>
              <a:endParaRPr lang="en-US" sz="1100" dirty="0"/>
            </a:p>
          </p:txBody>
        </p:sp>
        <p:sp>
          <p:nvSpPr>
            <p:cNvPr id="33" name="Text 12">
              <a:extLst>
                <a:ext uri="{FF2B5EF4-FFF2-40B4-BE49-F238E27FC236}">
                  <a16:creationId xmlns:a16="http://schemas.microsoft.com/office/drawing/2014/main" id="{B03950FF-ADB6-3B5E-3606-EB2F28B1B46A}"/>
                </a:ext>
              </a:extLst>
            </p:cNvPr>
            <p:cNvSpPr/>
            <p:nvPr/>
          </p:nvSpPr>
          <p:spPr>
            <a:xfrm>
              <a:off x="628650" y="2998727"/>
              <a:ext cx="3682398" cy="169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333333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Adiantar compras, preferencialmente à vista, para melhores preços </a:t>
              </a:r>
              <a:endParaRPr lang="en-US" sz="1100" dirty="0"/>
            </a:p>
          </p:txBody>
        </p:sp>
        <p:sp>
          <p:nvSpPr>
            <p:cNvPr id="34" name="Shape 13">
              <a:extLst>
                <a:ext uri="{FF2B5EF4-FFF2-40B4-BE49-F238E27FC236}">
                  <a16:creationId xmlns:a16="http://schemas.microsoft.com/office/drawing/2014/main" id="{414CBE67-31F1-533A-CD06-BDB5646D7937}"/>
                </a:ext>
              </a:extLst>
            </p:cNvPr>
            <p:cNvSpPr/>
            <p:nvPr/>
          </p:nvSpPr>
          <p:spPr>
            <a:xfrm>
              <a:off x="500063" y="3344112"/>
              <a:ext cx="4446984" cy="539353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pt-BR" sz="1100"/>
            </a:p>
          </p:txBody>
        </p:sp>
        <p:sp>
          <p:nvSpPr>
            <p:cNvPr id="35" name="Shape 14">
              <a:extLst>
                <a:ext uri="{FF2B5EF4-FFF2-40B4-BE49-F238E27FC236}">
                  <a16:creationId xmlns:a16="http://schemas.microsoft.com/office/drawing/2014/main" id="{B2A87BAE-3971-B6B9-C9C8-57EED33E5747}"/>
                </a:ext>
              </a:extLst>
            </p:cNvPr>
            <p:cNvSpPr/>
            <p:nvPr/>
          </p:nvSpPr>
          <p:spPr>
            <a:xfrm>
              <a:off x="500063" y="3344112"/>
              <a:ext cx="28575" cy="539353"/>
            </a:xfrm>
            <a:prstGeom prst="rect">
              <a:avLst/>
            </a:prstGeom>
            <a:solidFill>
              <a:srgbClr val="4CAF50"/>
            </a:solidFill>
            <a:ln/>
          </p:spPr>
          <p:txBody>
            <a:bodyPr/>
            <a:lstStyle/>
            <a:p>
              <a:endParaRPr lang="pt-BR" sz="1100"/>
            </a:p>
          </p:txBody>
        </p:sp>
        <p:sp>
          <p:nvSpPr>
            <p:cNvPr id="36" name="Text 15">
              <a:extLst>
                <a:ext uri="{FF2B5EF4-FFF2-40B4-BE49-F238E27FC236}">
                  <a16:creationId xmlns:a16="http://schemas.microsoft.com/office/drawing/2014/main" id="{7238966F-515E-2DEC-3F4B-5B010412739B}"/>
                </a:ext>
              </a:extLst>
            </p:cNvPr>
            <p:cNvSpPr/>
            <p:nvPr/>
          </p:nvSpPr>
          <p:spPr>
            <a:xfrm>
              <a:off x="628650" y="3439854"/>
              <a:ext cx="1319243" cy="169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E7D32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Gestão de Manutenção</a:t>
              </a:r>
              <a:endParaRPr lang="en-US" sz="1100" dirty="0"/>
            </a:p>
          </p:txBody>
        </p:sp>
        <p:sp>
          <p:nvSpPr>
            <p:cNvPr id="37" name="Text 16">
              <a:extLst>
                <a:ext uri="{FF2B5EF4-FFF2-40B4-BE49-F238E27FC236}">
                  <a16:creationId xmlns:a16="http://schemas.microsoft.com/office/drawing/2014/main" id="{281B2DED-4C9A-5BB7-2719-8C5978B26A9E}"/>
                </a:ext>
              </a:extLst>
            </p:cNvPr>
            <p:cNvSpPr/>
            <p:nvPr/>
          </p:nvSpPr>
          <p:spPr>
            <a:xfrm>
              <a:off x="628650" y="3623805"/>
              <a:ext cx="3191760" cy="169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333333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Implementar checklists e contratar gestor de manutenção </a:t>
              </a:r>
              <a:endParaRPr lang="en-US" sz="1100" dirty="0"/>
            </a:p>
          </p:txBody>
        </p:sp>
        <p:sp>
          <p:nvSpPr>
            <p:cNvPr id="38" name="Shape 17">
              <a:extLst>
                <a:ext uri="{FF2B5EF4-FFF2-40B4-BE49-F238E27FC236}">
                  <a16:creationId xmlns:a16="http://schemas.microsoft.com/office/drawing/2014/main" id="{9C5D4FCC-17A4-F9CF-3656-A8AE6A279401}"/>
                </a:ext>
              </a:extLst>
            </p:cNvPr>
            <p:cNvSpPr/>
            <p:nvPr/>
          </p:nvSpPr>
          <p:spPr>
            <a:xfrm>
              <a:off x="500063" y="3969190"/>
              <a:ext cx="4446984" cy="539353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pt-BR" sz="1100"/>
            </a:p>
          </p:txBody>
        </p:sp>
        <p:sp>
          <p:nvSpPr>
            <p:cNvPr id="39" name="Shape 18">
              <a:extLst>
                <a:ext uri="{FF2B5EF4-FFF2-40B4-BE49-F238E27FC236}">
                  <a16:creationId xmlns:a16="http://schemas.microsoft.com/office/drawing/2014/main" id="{551E97E6-8E99-65C7-82E1-56E7B2899084}"/>
                </a:ext>
              </a:extLst>
            </p:cNvPr>
            <p:cNvSpPr/>
            <p:nvPr/>
          </p:nvSpPr>
          <p:spPr>
            <a:xfrm>
              <a:off x="500063" y="3969190"/>
              <a:ext cx="28575" cy="539353"/>
            </a:xfrm>
            <a:prstGeom prst="rect">
              <a:avLst/>
            </a:prstGeom>
            <a:solidFill>
              <a:srgbClr val="4CAF50"/>
            </a:solidFill>
            <a:ln/>
          </p:spPr>
          <p:txBody>
            <a:bodyPr/>
            <a:lstStyle/>
            <a:p>
              <a:endParaRPr lang="pt-BR" sz="1100"/>
            </a:p>
          </p:txBody>
        </p:sp>
        <p:sp>
          <p:nvSpPr>
            <p:cNvPr id="40" name="Text 19">
              <a:extLst>
                <a:ext uri="{FF2B5EF4-FFF2-40B4-BE49-F238E27FC236}">
                  <a16:creationId xmlns:a16="http://schemas.microsoft.com/office/drawing/2014/main" id="{BBDC47C1-2267-AF71-B017-F8B4B1ADA01C}"/>
                </a:ext>
              </a:extLst>
            </p:cNvPr>
            <p:cNvSpPr/>
            <p:nvPr/>
          </p:nvSpPr>
          <p:spPr>
            <a:xfrm>
              <a:off x="628650" y="4064932"/>
              <a:ext cx="1075229" cy="169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E7D32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Redução de Custos</a:t>
              </a:r>
              <a:endParaRPr lang="en-US" sz="1100" dirty="0"/>
            </a:p>
          </p:txBody>
        </p:sp>
        <p:sp>
          <p:nvSpPr>
            <p:cNvPr id="41" name="Text 20">
              <a:extLst>
                <a:ext uri="{FF2B5EF4-FFF2-40B4-BE49-F238E27FC236}">
                  <a16:creationId xmlns:a16="http://schemas.microsoft.com/office/drawing/2014/main" id="{CA400FE5-7D6C-2B87-92EC-33F699BA0E39}"/>
                </a:ext>
              </a:extLst>
            </p:cNvPr>
            <p:cNvSpPr/>
            <p:nvPr/>
          </p:nvSpPr>
          <p:spPr>
            <a:xfrm>
              <a:off x="628650" y="4248883"/>
              <a:ext cx="3289627" cy="169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333333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Cortar horas extras e otimizar equipe para reduzir despesas </a:t>
              </a:r>
              <a:endParaRPr lang="en-US" sz="1100" dirty="0"/>
            </a:p>
          </p:txBody>
        </p:sp>
        <p:sp>
          <p:nvSpPr>
            <p:cNvPr id="42" name="Shape 21">
              <a:extLst>
                <a:ext uri="{FF2B5EF4-FFF2-40B4-BE49-F238E27FC236}">
                  <a16:creationId xmlns:a16="http://schemas.microsoft.com/office/drawing/2014/main" id="{D92CF113-655C-1010-1789-B00F0B28EFEB}"/>
                </a:ext>
              </a:extLst>
            </p:cNvPr>
            <p:cNvSpPr/>
            <p:nvPr/>
          </p:nvSpPr>
          <p:spPr>
            <a:xfrm>
              <a:off x="5197078" y="1531386"/>
              <a:ext cx="4446984" cy="433983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pt-BR" sz="1100"/>
            </a:p>
          </p:txBody>
        </p:sp>
        <p:sp>
          <p:nvSpPr>
            <p:cNvPr id="43" name="Text 22">
              <a:extLst>
                <a:ext uri="{FF2B5EF4-FFF2-40B4-BE49-F238E27FC236}">
                  <a16:creationId xmlns:a16="http://schemas.microsoft.com/office/drawing/2014/main" id="{AA8A07D8-EBF4-2648-D613-68758B03B3BE}"/>
                </a:ext>
              </a:extLst>
            </p:cNvPr>
            <p:cNvSpPr/>
            <p:nvPr/>
          </p:nvSpPr>
          <p:spPr>
            <a:xfrm>
              <a:off x="5197078" y="1543449"/>
              <a:ext cx="4446984" cy="409856"/>
            </a:xfrm>
            <a:prstGeom prst="rect">
              <a:avLst/>
            </a:prstGeom>
            <a:noFill/>
            <a:ln/>
          </p:spPr>
          <p:txBody>
            <a:bodyPr wrap="square" lIns="170053" tIns="119126" rIns="170053" bIns="119126" rtlCol="0" anchor="ctr">
              <a:spAutoFit/>
            </a:bodyPr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🐄 Pecuária</a:t>
              </a:r>
              <a:endParaRPr lang="en-US" sz="1100" dirty="0"/>
            </a:p>
          </p:txBody>
        </p:sp>
        <p:sp>
          <p:nvSpPr>
            <p:cNvPr id="44" name="Shape 23">
              <a:extLst>
                <a:ext uri="{FF2B5EF4-FFF2-40B4-BE49-F238E27FC236}">
                  <a16:creationId xmlns:a16="http://schemas.microsoft.com/office/drawing/2014/main" id="{19C08496-6FC2-6511-6D40-4ACEBFE5A906}"/>
                </a:ext>
              </a:extLst>
            </p:cNvPr>
            <p:cNvSpPr/>
            <p:nvPr/>
          </p:nvSpPr>
          <p:spPr>
            <a:xfrm>
              <a:off x="5197078" y="2093956"/>
              <a:ext cx="4446984" cy="539353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pt-BR" sz="1100"/>
            </a:p>
          </p:txBody>
        </p:sp>
        <p:sp>
          <p:nvSpPr>
            <p:cNvPr id="45" name="Shape 24">
              <a:extLst>
                <a:ext uri="{FF2B5EF4-FFF2-40B4-BE49-F238E27FC236}">
                  <a16:creationId xmlns:a16="http://schemas.microsoft.com/office/drawing/2014/main" id="{F17D74AE-E4A6-A956-87EE-1B5E92B0803B}"/>
                </a:ext>
              </a:extLst>
            </p:cNvPr>
            <p:cNvSpPr/>
            <p:nvPr/>
          </p:nvSpPr>
          <p:spPr>
            <a:xfrm>
              <a:off x="5197078" y="2093956"/>
              <a:ext cx="28575" cy="539353"/>
            </a:xfrm>
            <a:prstGeom prst="rect">
              <a:avLst/>
            </a:prstGeom>
            <a:solidFill>
              <a:srgbClr val="4CAF50"/>
            </a:solidFill>
            <a:ln/>
          </p:spPr>
          <p:txBody>
            <a:bodyPr/>
            <a:lstStyle/>
            <a:p>
              <a:endParaRPr lang="pt-BR" sz="1100"/>
            </a:p>
          </p:txBody>
        </p:sp>
        <p:sp>
          <p:nvSpPr>
            <p:cNvPr id="46" name="Text 25">
              <a:extLst>
                <a:ext uri="{FF2B5EF4-FFF2-40B4-BE49-F238E27FC236}">
                  <a16:creationId xmlns:a16="http://schemas.microsoft.com/office/drawing/2014/main" id="{6B2AF2E2-55FD-FBF5-8513-55131E0A1C38}"/>
                </a:ext>
              </a:extLst>
            </p:cNvPr>
            <p:cNvSpPr/>
            <p:nvPr/>
          </p:nvSpPr>
          <p:spPr>
            <a:xfrm>
              <a:off x="5325666" y="2189697"/>
              <a:ext cx="665493" cy="169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E7D32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Sistema ILP</a:t>
              </a:r>
              <a:endParaRPr lang="en-US" sz="1100" dirty="0"/>
            </a:p>
          </p:txBody>
        </p:sp>
        <p:sp>
          <p:nvSpPr>
            <p:cNvPr id="47" name="Text 26">
              <a:extLst>
                <a:ext uri="{FF2B5EF4-FFF2-40B4-BE49-F238E27FC236}">
                  <a16:creationId xmlns:a16="http://schemas.microsoft.com/office/drawing/2014/main" id="{9EFA1BB9-F6BE-5FC3-4DD8-F406F0C21D03}"/>
                </a:ext>
              </a:extLst>
            </p:cNvPr>
            <p:cNvSpPr/>
            <p:nvPr/>
          </p:nvSpPr>
          <p:spPr>
            <a:xfrm>
              <a:off x="5325666" y="2373649"/>
              <a:ext cx="3615850" cy="169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333333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Executar plano de integração lavoura-pecuária (mínimo 2 UAs/ha) </a:t>
              </a:r>
              <a:endParaRPr lang="en-US" sz="1100" dirty="0"/>
            </a:p>
          </p:txBody>
        </p:sp>
        <p:sp>
          <p:nvSpPr>
            <p:cNvPr id="48" name="Shape 27">
              <a:extLst>
                <a:ext uri="{FF2B5EF4-FFF2-40B4-BE49-F238E27FC236}">
                  <a16:creationId xmlns:a16="http://schemas.microsoft.com/office/drawing/2014/main" id="{CDEE9857-22DE-33CF-7459-D3F65C3AD803}"/>
                </a:ext>
              </a:extLst>
            </p:cNvPr>
            <p:cNvSpPr/>
            <p:nvPr/>
          </p:nvSpPr>
          <p:spPr>
            <a:xfrm>
              <a:off x="5197078" y="2719034"/>
              <a:ext cx="4446984" cy="539353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pt-BR" sz="1100"/>
            </a:p>
          </p:txBody>
        </p:sp>
        <p:sp>
          <p:nvSpPr>
            <p:cNvPr id="49" name="Shape 28">
              <a:extLst>
                <a:ext uri="{FF2B5EF4-FFF2-40B4-BE49-F238E27FC236}">
                  <a16:creationId xmlns:a16="http://schemas.microsoft.com/office/drawing/2014/main" id="{EEFBE4B3-589C-8B6B-D6CD-202F8AFCA268}"/>
                </a:ext>
              </a:extLst>
            </p:cNvPr>
            <p:cNvSpPr/>
            <p:nvPr/>
          </p:nvSpPr>
          <p:spPr>
            <a:xfrm>
              <a:off x="5197078" y="2719034"/>
              <a:ext cx="28575" cy="539353"/>
            </a:xfrm>
            <a:prstGeom prst="rect">
              <a:avLst/>
            </a:prstGeom>
            <a:solidFill>
              <a:srgbClr val="4CAF50"/>
            </a:solidFill>
            <a:ln/>
          </p:spPr>
          <p:txBody>
            <a:bodyPr/>
            <a:lstStyle/>
            <a:p>
              <a:endParaRPr lang="pt-BR" sz="1100"/>
            </a:p>
          </p:txBody>
        </p:sp>
        <p:sp>
          <p:nvSpPr>
            <p:cNvPr id="50" name="Text 29">
              <a:extLst>
                <a:ext uri="{FF2B5EF4-FFF2-40B4-BE49-F238E27FC236}">
                  <a16:creationId xmlns:a16="http://schemas.microsoft.com/office/drawing/2014/main" id="{82D555D5-2B24-ADF4-D86E-2786A39A4D9B}"/>
                </a:ext>
              </a:extLst>
            </p:cNvPr>
            <p:cNvSpPr/>
            <p:nvPr/>
          </p:nvSpPr>
          <p:spPr>
            <a:xfrm>
              <a:off x="5325666" y="2814776"/>
              <a:ext cx="1349256" cy="169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E7D32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Processos Operacionais</a:t>
              </a:r>
              <a:endParaRPr lang="en-US" sz="1100" dirty="0"/>
            </a:p>
          </p:txBody>
        </p:sp>
        <p:sp>
          <p:nvSpPr>
            <p:cNvPr id="51" name="Text 30">
              <a:extLst>
                <a:ext uri="{FF2B5EF4-FFF2-40B4-BE49-F238E27FC236}">
                  <a16:creationId xmlns:a16="http://schemas.microsoft.com/office/drawing/2014/main" id="{37F35A85-ED34-990D-F424-98DC91D630BC}"/>
                </a:ext>
              </a:extLst>
            </p:cNvPr>
            <p:cNvSpPr/>
            <p:nvPr/>
          </p:nvSpPr>
          <p:spPr>
            <a:xfrm>
              <a:off x="5325666" y="2998727"/>
              <a:ext cx="3134345" cy="169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333333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Garantir água limpa e sal em abundância para o rebanho </a:t>
              </a:r>
              <a:endParaRPr lang="en-US" sz="1100" dirty="0"/>
            </a:p>
          </p:txBody>
        </p:sp>
        <p:sp>
          <p:nvSpPr>
            <p:cNvPr id="52" name="Shape 31">
              <a:extLst>
                <a:ext uri="{FF2B5EF4-FFF2-40B4-BE49-F238E27FC236}">
                  <a16:creationId xmlns:a16="http://schemas.microsoft.com/office/drawing/2014/main" id="{BA089CC2-93A6-2C2D-8603-CB0A0466A2AB}"/>
                </a:ext>
              </a:extLst>
            </p:cNvPr>
            <p:cNvSpPr/>
            <p:nvPr/>
          </p:nvSpPr>
          <p:spPr>
            <a:xfrm>
              <a:off x="5197078" y="3344112"/>
              <a:ext cx="4446984" cy="539353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pt-BR" sz="1100"/>
            </a:p>
          </p:txBody>
        </p:sp>
        <p:sp>
          <p:nvSpPr>
            <p:cNvPr id="53" name="Shape 32">
              <a:extLst>
                <a:ext uri="{FF2B5EF4-FFF2-40B4-BE49-F238E27FC236}">
                  <a16:creationId xmlns:a16="http://schemas.microsoft.com/office/drawing/2014/main" id="{3AA806CD-6022-7326-E194-5D86B4D5F7DB}"/>
                </a:ext>
              </a:extLst>
            </p:cNvPr>
            <p:cNvSpPr/>
            <p:nvPr/>
          </p:nvSpPr>
          <p:spPr>
            <a:xfrm>
              <a:off x="5197078" y="3344112"/>
              <a:ext cx="28575" cy="539353"/>
            </a:xfrm>
            <a:prstGeom prst="rect">
              <a:avLst/>
            </a:prstGeom>
            <a:solidFill>
              <a:srgbClr val="4CAF50"/>
            </a:solidFill>
            <a:ln/>
          </p:spPr>
          <p:txBody>
            <a:bodyPr/>
            <a:lstStyle/>
            <a:p>
              <a:endParaRPr lang="pt-BR" sz="1100"/>
            </a:p>
          </p:txBody>
        </p:sp>
        <p:sp>
          <p:nvSpPr>
            <p:cNvPr id="54" name="Text 33">
              <a:extLst>
                <a:ext uri="{FF2B5EF4-FFF2-40B4-BE49-F238E27FC236}">
                  <a16:creationId xmlns:a16="http://schemas.microsoft.com/office/drawing/2014/main" id="{B911BD55-45A4-DA11-666B-6D2383FD8E35}"/>
                </a:ext>
              </a:extLst>
            </p:cNvPr>
            <p:cNvSpPr/>
            <p:nvPr/>
          </p:nvSpPr>
          <p:spPr>
            <a:xfrm>
              <a:off x="5325666" y="3439854"/>
              <a:ext cx="1240950" cy="169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E7D32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Compras Estratégicas</a:t>
              </a:r>
              <a:endParaRPr lang="en-US" sz="1100" dirty="0"/>
            </a:p>
          </p:txBody>
        </p:sp>
        <p:sp>
          <p:nvSpPr>
            <p:cNvPr id="55" name="Text 34">
              <a:extLst>
                <a:ext uri="{FF2B5EF4-FFF2-40B4-BE49-F238E27FC236}">
                  <a16:creationId xmlns:a16="http://schemas.microsoft.com/office/drawing/2014/main" id="{9DC7649B-E98B-64CA-3ADB-4E3DE4513AB2}"/>
                </a:ext>
              </a:extLst>
            </p:cNvPr>
            <p:cNvSpPr/>
            <p:nvPr/>
          </p:nvSpPr>
          <p:spPr>
            <a:xfrm>
              <a:off x="5325666" y="3623805"/>
              <a:ext cx="3255700" cy="169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333333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Comprar gado na região para evitar comissão e fretes altos </a:t>
              </a:r>
              <a:endParaRPr lang="en-US" sz="1100" dirty="0"/>
            </a:p>
          </p:txBody>
        </p:sp>
        <p:sp>
          <p:nvSpPr>
            <p:cNvPr id="56" name="Shape 35">
              <a:extLst>
                <a:ext uri="{FF2B5EF4-FFF2-40B4-BE49-F238E27FC236}">
                  <a16:creationId xmlns:a16="http://schemas.microsoft.com/office/drawing/2014/main" id="{9A6C6AE5-0CDD-BF30-A687-EAD27DC5BF92}"/>
                </a:ext>
              </a:extLst>
            </p:cNvPr>
            <p:cNvSpPr/>
            <p:nvPr/>
          </p:nvSpPr>
          <p:spPr>
            <a:xfrm>
              <a:off x="5197078" y="3969190"/>
              <a:ext cx="4446984" cy="539353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pt-BR" sz="1100"/>
            </a:p>
          </p:txBody>
        </p:sp>
        <p:sp>
          <p:nvSpPr>
            <p:cNvPr id="57" name="Shape 36">
              <a:extLst>
                <a:ext uri="{FF2B5EF4-FFF2-40B4-BE49-F238E27FC236}">
                  <a16:creationId xmlns:a16="http://schemas.microsoft.com/office/drawing/2014/main" id="{7DEC245A-4C5A-5B8E-027D-6ADDA0C39FCE}"/>
                </a:ext>
              </a:extLst>
            </p:cNvPr>
            <p:cNvSpPr/>
            <p:nvPr/>
          </p:nvSpPr>
          <p:spPr>
            <a:xfrm>
              <a:off x="5197078" y="3969190"/>
              <a:ext cx="28575" cy="539353"/>
            </a:xfrm>
            <a:prstGeom prst="rect">
              <a:avLst/>
            </a:prstGeom>
            <a:solidFill>
              <a:srgbClr val="4CAF50"/>
            </a:solidFill>
            <a:ln/>
          </p:spPr>
          <p:txBody>
            <a:bodyPr/>
            <a:lstStyle/>
            <a:p>
              <a:endParaRPr lang="pt-BR" sz="1100"/>
            </a:p>
          </p:txBody>
        </p:sp>
        <p:sp>
          <p:nvSpPr>
            <p:cNvPr id="58" name="Text 37">
              <a:extLst>
                <a:ext uri="{FF2B5EF4-FFF2-40B4-BE49-F238E27FC236}">
                  <a16:creationId xmlns:a16="http://schemas.microsoft.com/office/drawing/2014/main" id="{EF14EFF4-5CBB-94BC-41B0-6474D607930C}"/>
                </a:ext>
              </a:extLst>
            </p:cNvPr>
            <p:cNvSpPr/>
            <p:nvPr/>
          </p:nvSpPr>
          <p:spPr>
            <a:xfrm>
              <a:off x="5325666" y="4064932"/>
              <a:ext cx="925167" cy="169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E7D32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Manejo em Seca</a:t>
              </a:r>
              <a:endParaRPr lang="en-US" sz="1100" dirty="0"/>
            </a:p>
          </p:txBody>
        </p:sp>
        <p:sp>
          <p:nvSpPr>
            <p:cNvPr id="59" name="Text 38">
              <a:extLst>
                <a:ext uri="{FF2B5EF4-FFF2-40B4-BE49-F238E27FC236}">
                  <a16:creationId xmlns:a16="http://schemas.microsoft.com/office/drawing/2014/main" id="{F02F8867-42C3-7102-74E2-8E6AC38D51CD}"/>
                </a:ext>
              </a:extLst>
            </p:cNvPr>
            <p:cNvSpPr/>
            <p:nvPr/>
          </p:nvSpPr>
          <p:spPr>
            <a:xfrm>
              <a:off x="5325666" y="4248883"/>
              <a:ext cx="3386189" cy="169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333333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Utilizar sequestro com silagem para aumentar ganho de peso </a:t>
              </a:r>
              <a:endParaRPr lang="en-US" sz="1100" dirty="0"/>
            </a:p>
          </p:txBody>
        </p:sp>
        <p:sp>
          <p:nvSpPr>
            <p:cNvPr id="60" name="Shape 39">
              <a:extLst>
                <a:ext uri="{FF2B5EF4-FFF2-40B4-BE49-F238E27FC236}">
                  <a16:creationId xmlns:a16="http://schemas.microsoft.com/office/drawing/2014/main" id="{8FBA6A2E-DA24-6D30-60E5-236CAC073AF0}"/>
                </a:ext>
              </a:extLst>
            </p:cNvPr>
            <p:cNvSpPr/>
            <p:nvPr/>
          </p:nvSpPr>
          <p:spPr>
            <a:xfrm>
              <a:off x="5197078" y="4594268"/>
              <a:ext cx="4446984" cy="539353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pt-BR" sz="1100"/>
            </a:p>
          </p:txBody>
        </p:sp>
        <p:sp>
          <p:nvSpPr>
            <p:cNvPr id="61" name="Shape 40">
              <a:extLst>
                <a:ext uri="{FF2B5EF4-FFF2-40B4-BE49-F238E27FC236}">
                  <a16:creationId xmlns:a16="http://schemas.microsoft.com/office/drawing/2014/main" id="{32AC632F-3E5A-D0AD-FDDA-2AC54870E1CD}"/>
                </a:ext>
              </a:extLst>
            </p:cNvPr>
            <p:cNvSpPr/>
            <p:nvPr/>
          </p:nvSpPr>
          <p:spPr>
            <a:xfrm>
              <a:off x="5197078" y="4594268"/>
              <a:ext cx="28575" cy="539353"/>
            </a:xfrm>
            <a:prstGeom prst="rect">
              <a:avLst/>
            </a:prstGeom>
            <a:solidFill>
              <a:srgbClr val="4CAF50"/>
            </a:solidFill>
            <a:ln/>
          </p:spPr>
          <p:txBody>
            <a:bodyPr/>
            <a:lstStyle/>
            <a:p>
              <a:endParaRPr lang="pt-BR" sz="1100"/>
            </a:p>
          </p:txBody>
        </p:sp>
        <p:sp>
          <p:nvSpPr>
            <p:cNvPr id="62" name="Text 41">
              <a:extLst>
                <a:ext uri="{FF2B5EF4-FFF2-40B4-BE49-F238E27FC236}">
                  <a16:creationId xmlns:a16="http://schemas.microsoft.com/office/drawing/2014/main" id="{19A332A8-0DE7-1B34-00CE-273DEB95A59F}"/>
                </a:ext>
              </a:extLst>
            </p:cNvPr>
            <p:cNvSpPr/>
            <p:nvPr/>
          </p:nvSpPr>
          <p:spPr>
            <a:xfrm>
              <a:off x="5325666" y="4690010"/>
              <a:ext cx="939520" cy="169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E7D32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Foco Estratégico</a:t>
              </a:r>
              <a:endParaRPr lang="en-US" sz="1100" dirty="0"/>
            </a:p>
          </p:txBody>
        </p:sp>
        <p:sp>
          <p:nvSpPr>
            <p:cNvPr id="63" name="Text 42">
              <a:extLst>
                <a:ext uri="{FF2B5EF4-FFF2-40B4-BE49-F238E27FC236}">
                  <a16:creationId xmlns:a16="http://schemas.microsoft.com/office/drawing/2014/main" id="{CE91A779-C1C5-C84D-3336-F0C90184A9CB}"/>
                </a:ext>
              </a:extLst>
            </p:cNvPr>
            <p:cNvSpPr/>
            <p:nvPr/>
          </p:nvSpPr>
          <p:spPr>
            <a:xfrm>
              <a:off x="5325666" y="4873961"/>
              <a:ext cx="3228297" cy="169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333333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Reduzir cria (só nelore) e avançar com compras de machos 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97637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CB0E1-F532-1A3C-66D4-BE4EC193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8;p2">
            <a:extLst>
              <a:ext uri="{FF2B5EF4-FFF2-40B4-BE49-F238E27FC236}">
                <a16:creationId xmlns:a16="http://schemas.microsoft.com/office/drawing/2014/main" id="{85B2B27E-F47C-0B04-43E2-1DEB7AACABE0}"/>
              </a:ext>
            </a:extLst>
          </p:cNvPr>
          <p:cNvSpPr txBox="1"/>
          <p:nvPr/>
        </p:nvSpPr>
        <p:spPr>
          <a:xfrm>
            <a:off x="324986" y="217421"/>
            <a:ext cx="646244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pt-BR" sz="2400" b="1" dirty="0">
                <a:solidFill>
                  <a:srgbClr val="2E8B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Situação atual dos processos jurídicos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C3A8F21-0E5E-2712-1B61-945AB9BF7740}"/>
              </a:ext>
            </a:extLst>
          </p:cNvPr>
          <p:cNvGrpSpPr/>
          <p:nvPr/>
        </p:nvGrpSpPr>
        <p:grpSpPr>
          <a:xfrm>
            <a:off x="413886" y="1302014"/>
            <a:ext cx="11319202" cy="5004867"/>
            <a:chOff x="413886" y="1302014"/>
            <a:chExt cx="10956471" cy="5004867"/>
          </a:xfrm>
        </p:grpSpPr>
        <p:sp>
          <p:nvSpPr>
            <p:cNvPr id="3" name="Shape 3">
              <a:extLst>
                <a:ext uri="{FF2B5EF4-FFF2-40B4-BE49-F238E27FC236}">
                  <a16:creationId xmlns:a16="http://schemas.microsoft.com/office/drawing/2014/main" id="{040D4138-CEF8-CC93-3EDB-AD8B21D0520B}"/>
                </a:ext>
              </a:extLst>
            </p:cNvPr>
            <p:cNvSpPr/>
            <p:nvPr/>
          </p:nvSpPr>
          <p:spPr>
            <a:xfrm>
              <a:off x="413886" y="1302014"/>
              <a:ext cx="2739118" cy="564668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pt-BR" sz="13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8681B91B-F5A9-DCDA-C8EC-86483BDE6258}"/>
                </a:ext>
              </a:extLst>
            </p:cNvPr>
            <p:cNvSpPr/>
            <p:nvPr/>
          </p:nvSpPr>
          <p:spPr>
            <a:xfrm>
              <a:off x="413886" y="1364030"/>
              <a:ext cx="2739118" cy="440633"/>
            </a:xfrm>
            <a:prstGeom prst="rect">
              <a:avLst/>
            </a:prstGeom>
            <a:noFill/>
            <a:ln/>
          </p:spPr>
          <p:txBody>
            <a:bodyPr wrap="square" lIns="136017" tIns="119126" rIns="136017" bIns="119126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Processo</a:t>
              </a:r>
              <a:endPara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D490314C-EFE1-35A4-436D-D4BA3099F779}"/>
                </a:ext>
              </a:extLst>
            </p:cNvPr>
            <p:cNvSpPr/>
            <p:nvPr/>
          </p:nvSpPr>
          <p:spPr>
            <a:xfrm>
              <a:off x="3153004" y="1302014"/>
              <a:ext cx="8217353" cy="564668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pt-BR" sz="13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005F9E9F-FCAB-33F9-0A60-ED1DEF6B9AA7}"/>
                </a:ext>
              </a:extLst>
            </p:cNvPr>
            <p:cNvSpPr/>
            <p:nvPr/>
          </p:nvSpPr>
          <p:spPr>
            <a:xfrm>
              <a:off x="3153004" y="1364030"/>
              <a:ext cx="8217353" cy="440633"/>
            </a:xfrm>
            <a:prstGeom prst="rect">
              <a:avLst/>
            </a:prstGeom>
            <a:noFill/>
            <a:ln/>
          </p:spPr>
          <p:txBody>
            <a:bodyPr wrap="square" lIns="136017" tIns="119126" rIns="136017" bIns="119126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Status e Observações</a:t>
              </a:r>
              <a:endPara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0A1483F5-5D70-3EB7-52AC-F32E12727453}"/>
                </a:ext>
              </a:extLst>
            </p:cNvPr>
            <p:cNvSpPr/>
            <p:nvPr/>
          </p:nvSpPr>
          <p:spPr>
            <a:xfrm>
              <a:off x="413886" y="1866683"/>
              <a:ext cx="2739118" cy="440633"/>
            </a:xfrm>
            <a:prstGeom prst="rect">
              <a:avLst/>
            </a:prstGeom>
            <a:noFill/>
            <a:ln/>
          </p:spPr>
          <p:txBody>
            <a:bodyPr wrap="square" lIns="136017" tIns="119126" rIns="136017" bIns="119126" rtlCol="0" anchor="t">
              <a:spAutoFit/>
            </a:bodyPr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E7D3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Inventário</a:t>
              </a:r>
              <a:endPara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E54E49C6-3713-4996-E417-3B219D6015E6}"/>
                </a:ext>
              </a:extLst>
            </p:cNvPr>
            <p:cNvSpPr/>
            <p:nvPr/>
          </p:nvSpPr>
          <p:spPr>
            <a:xfrm>
              <a:off x="3153004" y="1866683"/>
              <a:ext cx="8217353" cy="1040798"/>
            </a:xfrm>
            <a:prstGeom prst="rect">
              <a:avLst/>
            </a:prstGeom>
            <a:noFill/>
            <a:ln/>
          </p:spPr>
          <p:txBody>
            <a:bodyPr wrap="square" lIns="136017" tIns="119126" rIns="136017" bIns="119126" rtlCol="0" anchor="t">
              <a:spAutoFit/>
            </a:bodyPr>
            <a:lstStyle/>
            <a:p>
              <a:pPr marL="0" indent="0">
                <a:buNone/>
              </a:pPr>
              <a:r>
                <a:rPr lang="pt-BR" sz="1300" dirty="0">
                  <a:solidFill>
                    <a:srgbClr val="33333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Concordância em fazer valoração dos nossos ativos. JR e Karina vão entrar em contato com </a:t>
              </a:r>
              <a:r>
                <a:rPr lang="pt-BR" sz="1300" dirty="0" err="1">
                  <a:solidFill>
                    <a:srgbClr val="33333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advs</a:t>
              </a:r>
              <a:r>
                <a:rPr lang="pt-BR" sz="1300" dirty="0">
                  <a:solidFill>
                    <a:srgbClr val="33333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do Gabriel</a:t>
              </a:r>
            </a:p>
            <a:p>
              <a:pPr marL="0" indent="0">
                <a:buNone/>
              </a:pPr>
              <a:r>
                <a:rPr lang="pt-BR" sz="1300" dirty="0">
                  <a:solidFill>
                    <a:srgbClr val="33333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Ativos que são propriedade da atividade rural estão marcados com valor R$0 foram retirados do IR2025. Alguns desses tem valor e estamos avaliando quais deles precisam voltar</a:t>
              </a:r>
            </a:p>
            <a:p>
              <a:pPr marL="0" indent="0">
                <a:buNone/>
              </a:pPr>
              <a:r>
                <a:rPr lang="pt-BR" sz="1300" dirty="0">
                  <a:solidFill>
                    <a:srgbClr val="33333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Do nosso lado, estou procurando empresas que fazem avaliação </a:t>
              </a:r>
              <a:r>
                <a:rPr lang="pt-BR" sz="1300" dirty="0" err="1">
                  <a:solidFill>
                    <a:srgbClr val="33333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imobiliár</a:t>
              </a:r>
              <a:endParaRPr lang="pt-BR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47438C64-6ABB-2C40-1C45-0D79CFCC3043}"/>
                </a:ext>
              </a:extLst>
            </p:cNvPr>
            <p:cNvSpPr/>
            <p:nvPr/>
          </p:nvSpPr>
          <p:spPr>
            <a:xfrm>
              <a:off x="413886" y="2920172"/>
              <a:ext cx="10956471" cy="583378"/>
            </a:xfrm>
            <a:prstGeom prst="rect">
              <a:avLst/>
            </a:prstGeom>
            <a:solidFill>
              <a:srgbClr val="FAFAFA"/>
            </a:solidFill>
            <a:ln/>
          </p:spPr>
          <p:txBody>
            <a:bodyPr/>
            <a:lstStyle/>
            <a:p>
              <a:endParaRPr lang="pt-BR" sz="13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04C96E1A-306D-84D8-8FB2-ADC8FE18C25D}"/>
                </a:ext>
              </a:extLst>
            </p:cNvPr>
            <p:cNvSpPr/>
            <p:nvPr/>
          </p:nvSpPr>
          <p:spPr>
            <a:xfrm>
              <a:off x="413886" y="2920172"/>
              <a:ext cx="2739118" cy="440633"/>
            </a:xfrm>
            <a:prstGeom prst="rect">
              <a:avLst/>
            </a:prstGeom>
            <a:noFill/>
            <a:ln/>
          </p:spPr>
          <p:txBody>
            <a:bodyPr wrap="square" lIns="136017" tIns="119126" rIns="136017" bIns="119126" rtlCol="0" anchor="t">
              <a:spAutoFit/>
            </a:bodyPr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E7D3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Pensão Alimentícia</a:t>
              </a:r>
              <a:endPara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7B576415-E8F5-212E-7A26-4BA896D9E0F7}"/>
                </a:ext>
              </a:extLst>
            </p:cNvPr>
            <p:cNvSpPr/>
            <p:nvPr/>
          </p:nvSpPr>
          <p:spPr>
            <a:xfrm>
              <a:off x="3153004" y="2920172"/>
              <a:ext cx="8217353" cy="640688"/>
            </a:xfrm>
            <a:prstGeom prst="rect">
              <a:avLst/>
            </a:prstGeom>
            <a:noFill/>
            <a:ln/>
          </p:spPr>
          <p:txBody>
            <a:bodyPr wrap="square" lIns="136017" tIns="119126" rIns="136017" bIns="119126" rtlCol="0" anchor="t">
              <a:spAutoFit/>
            </a:bodyPr>
            <a:lstStyle/>
            <a:p>
              <a:pPr marL="0" indent="0">
                <a:buNone/>
              </a:pPr>
              <a:r>
                <a:rPr lang="pt-BR" sz="1300" dirty="0">
                  <a:solidFill>
                    <a:srgbClr val="33333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Recurso para Brasília realizado. Ainda no aguardo do posicionamento do tribunal</a:t>
              </a:r>
            </a:p>
            <a:p>
              <a:pPr marL="0" indent="0">
                <a:buNone/>
              </a:pPr>
              <a:endParaRPr lang="pt-BR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D67AA124-1FDB-F83A-C122-B121DADE588A}"/>
                </a:ext>
              </a:extLst>
            </p:cNvPr>
            <p:cNvSpPr/>
            <p:nvPr/>
          </p:nvSpPr>
          <p:spPr>
            <a:xfrm>
              <a:off x="413886" y="3503550"/>
              <a:ext cx="2739118" cy="440633"/>
            </a:xfrm>
            <a:prstGeom prst="rect">
              <a:avLst/>
            </a:prstGeom>
            <a:noFill/>
            <a:ln/>
          </p:spPr>
          <p:txBody>
            <a:bodyPr wrap="square" lIns="136017" tIns="119126" rIns="136017" bIns="119126" rtlCol="0" anchor="t">
              <a:spAutoFit/>
            </a:bodyPr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E7D3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Ação Anulativa</a:t>
              </a:r>
              <a:endPara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2F1DCCBE-4B95-9358-252B-DB1513DF0D4C}"/>
                </a:ext>
              </a:extLst>
            </p:cNvPr>
            <p:cNvSpPr/>
            <p:nvPr/>
          </p:nvSpPr>
          <p:spPr>
            <a:xfrm>
              <a:off x="3153004" y="3503550"/>
              <a:ext cx="8217353" cy="440633"/>
            </a:xfrm>
            <a:prstGeom prst="rect">
              <a:avLst/>
            </a:prstGeom>
            <a:noFill/>
            <a:ln/>
          </p:spPr>
          <p:txBody>
            <a:bodyPr wrap="square" lIns="136017" tIns="119126" rIns="136017" bIns="119126" rtlCol="0" anchor="t">
              <a:spAutoFit/>
            </a:bodyPr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33333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Defesa realizada. Gratuidade retirada. Aguardando decisão do juiz (possível recurso pendente).</a:t>
              </a:r>
              <a:endPara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9D3A7667-78EE-42D2-F51F-D27E2A90858D}"/>
                </a:ext>
              </a:extLst>
            </p:cNvPr>
            <p:cNvSpPr/>
            <p:nvPr/>
          </p:nvSpPr>
          <p:spPr>
            <a:xfrm>
              <a:off x="413886" y="4086929"/>
              <a:ext cx="10956471" cy="838910"/>
            </a:xfrm>
            <a:prstGeom prst="rect">
              <a:avLst/>
            </a:prstGeom>
            <a:solidFill>
              <a:srgbClr val="FAFAFA"/>
            </a:solidFill>
            <a:ln/>
          </p:spPr>
          <p:txBody>
            <a:bodyPr/>
            <a:lstStyle/>
            <a:p>
              <a:endParaRPr lang="pt-BR" sz="13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ED5B834B-116E-E18F-7C03-4076B0E1E36C}"/>
                </a:ext>
              </a:extLst>
            </p:cNvPr>
            <p:cNvSpPr/>
            <p:nvPr/>
          </p:nvSpPr>
          <p:spPr>
            <a:xfrm>
              <a:off x="413886" y="4086929"/>
              <a:ext cx="2739118" cy="440633"/>
            </a:xfrm>
            <a:prstGeom prst="rect">
              <a:avLst/>
            </a:prstGeom>
            <a:noFill/>
            <a:ln/>
          </p:spPr>
          <p:txBody>
            <a:bodyPr wrap="square" lIns="136017" tIns="119126" rIns="136017" bIns="119126" rtlCol="0" anchor="t">
              <a:spAutoFit/>
            </a:bodyPr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E7D3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Disputa Demarcatória</a:t>
              </a:r>
              <a:endPara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Text 16">
              <a:extLst>
                <a:ext uri="{FF2B5EF4-FFF2-40B4-BE49-F238E27FC236}">
                  <a16:creationId xmlns:a16="http://schemas.microsoft.com/office/drawing/2014/main" id="{39D06F29-311B-42DF-0A18-D26C457FCDBB}"/>
                </a:ext>
              </a:extLst>
            </p:cNvPr>
            <p:cNvSpPr/>
            <p:nvPr/>
          </p:nvSpPr>
          <p:spPr>
            <a:xfrm>
              <a:off x="3153004" y="4086929"/>
              <a:ext cx="8217353" cy="840743"/>
            </a:xfrm>
            <a:prstGeom prst="rect">
              <a:avLst/>
            </a:prstGeom>
            <a:noFill/>
            <a:ln/>
          </p:spPr>
          <p:txBody>
            <a:bodyPr wrap="square" lIns="136017" tIns="119126" rIns="136017" bIns="119126" rtlCol="0" anchor="t">
              <a:spAutoFit/>
            </a:bodyPr>
            <a:lstStyle/>
            <a:p>
              <a:pPr marL="0" indent="0">
                <a:buNone/>
              </a:pPr>
              <a:r>
                <a:rPr lang="pt-BR" sz="1300" dirty="0">
                  <a:solidFill>
                    <a:srgbClr val="33333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Visita com novo perito realizada</a:t>
              </a:r>
            </a:p>
            <a:p>
              <a:pPr marL="0" indent="0">
                <a:buNone/>
              </a:pPr>
              <a:r>
                <a:rPr lang="pt-BR" sz="1300" dirty="0">
                  <a:solidFill>
                    <a:srgbClr val="33333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Informações iniciais enviadas pelo perito ao nosso assistente técnico não são animadoras. Linha traçada está além do pedido pela RIMA / Globo. No aguardo de novas informações</a:t>
              </a:r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615EFD9C-D2A7-BEA3-8A35-5673D9FC391B}"/>
                </a:ext>
              </a:extLst>
            </p:cNvPr>
            <p:cNvSpPr/>
            <p:nvPr/>
          </p:nvSpPr>
          <p:spPr>
            <a:xfrm>
              <a:off x="413886" y="4882759"/>
              <a:ext cx="2739118" cy="440633"/>
            </a:xfrm>
            <a:prstGeom prst="rect">
              <a:avLst/>
            </a:prstGeom>
            <a:noFill/>
            <a:ln/>
          </p:spPr>
          <p:txBody>
            <a:bodyPr wrap="square" lIns="136017" tIns="119126" rIns="136017" bIns="119126" rtlCol="0" anchor="t">
              <a:spAutoFit/>
            </a:bodyPr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E7D3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CEMIG</a:t>
              </a:r>
              <a:endPara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Text 18">
              <a:extLst>
                <a:ext uri="{FF2B5EF4-FFF2-40B4-BE49-F238E27FC236}">
                  <a16:creationId xmlns:a16="http://schemas.microsoft.com/office/drawing/2014/main" id="{A244FC79-B070-E951-A695-BE73A1A9B962}"/>
                </a:ext>
              </a:extLst>
            </p:cNvPr>
            <p:cNvSpPr/>
            <p:nvPr/>
          </p:nvSpPr>
          <p:spPr>
            <a:xfrm>
              <a:off x="3153004" y="4882759"/>
              <a:ext cx="8217353" cy="440633"/>
            </a:xfrm>
            <a:prstGeom prst="rect">
              <a:avLst/>
            </a:prstGeom>
            <a:noFill/>
            <a:ln/>
          </p:spPr>
          <p:txBody>
            <a:bodyPr wrap="square" lIns="136017" tIns="119126" rIns="136017" bIns="119126" rtlCol="0" anchor="t">
              <a:spAutoFit/>
            </a:bodyPr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33333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Aguardando conclusão da instalação de energia trifásica. Processo em fase final.</a:t>
              </a:r>
              <a:endPara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Shape 19">
              <a:extLst>
                <a:ext uri="{FF2B5EF4-FFF2-40B4-BE49-F238E27FC236}">
                  <a16:creationId xmlns:a16="http://schemas.microsoft.com/office/drawing/2014/main" id="{F1F4184E-9426-D345-CB48-63B92E92F37D}"/>
                </a:ext>
              </a:extLst>
            </p:cNvPr>
            <p:cNvSpPr/>
            <p:nvPr/>
          </p:nvSpPr>
          <p:spPr>
            <a:xfrm>
              <a:off x="413886" y="5466137"/>
              <a:ext cx="10956471" cy="840743"/>
            </a:xfrm>
            <a:prstGeom prst="rect">
              <a:avLst/>
            </a:prstGeom>
            <a:solidFill>
              <a:srgbClr val="FAFAFA"/>
            </a:solidFill>
            <a:ln/>
          </p:spPr>
          <p:txBody>
            <a:bodyPr/>
            <a:lstStyle/>
            <a:p>
              <a:endParaRPr lang="pt-BR" sz="13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Text 20">
              <a:extLst>
                <a:ext uri="{FF2B5EF4-FFF2-40B4-BE49-F238E27FC236}">
                  <a16:creationId xmlns:a16="http://schemas.microsoft.com/office/drawing/2014/main" id="{9FF937C7-F911-0D94-D642-E496E910BDD0}"/>
                </a:ext>
              </a:extLst>
            </p:cNvPr>
            <p:cNvSpPr/>
            <p:nvPr/>
          </p:nvSpPr>
          <p:spPr>
            <a:xfrm>
              <a:off x="413886" y="5466138"/>
              <a:ext cx="2739118" cy="440633"/>
            </a:xfrm>
            <a:prstGeom prst="rect">
              <a:avLst/>
            </a:prstGeom>
            <a:noFill/>
            <a:ln/>
          </p:spPr>
          <p:txBody>
            <a:bodyPr wrap="square" lIns="136017" tIns="119126" rIns="136017" bIns="119126" rtlCol="0" anchor="t">
              <a:spAutoFit/>
            </a:bodyPr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E7D3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Ambiental</a:t>
              </a:r>
              <a:endPara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Text 21">
              <a:extLst>
                <a:ext uri="{FF2B5EF4-FFF2-40B4-BE49-F238E27FC236}">
                  <a16:creationId xmlns:a16="http://schemas.microsoft.com/office/drawing/2014/main" id="{5754AAA7-E04C-4770-8ABC-3D797D661155}"/>
                </a:ext>
              </a:extLst>
            </p:cNvPr>
            <p:cNvSpPr/>
            <p:nvPr/>
          </p:nvSpPr>
          <p:spPr>
            <a:xfrm>
              <a:off x="3153004" y="5466138"/>
              <a:ext cx="8217353" cy="840743"/>
            </a:xfrm>
            <a:prstGeom prst="rect">
              <a:avLst/>
            </a:prstGeom>
            <a:noFill/>
            <a:ln/>
          </p:spPr>
          <p:txBody>
            <a:bodyPr wrap="square" lIns="136017" tIns="119126" rIns="136017" bIns="119126" rtlCol="0" anchor="t">
              <a:spAutoFit/>
            </a:bodyPr>
            <a:lstStyle/>
            <a:p>
              <a:pPr marL="0" indent="0">
                <a:buNone/>
              </a:pPr>
              <a:r>
                <a:rPr lang="pt-BR" sz="1300" dirty="0">
                  <a:solidFill>
                    <a:srgbClr val="33333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Processo está pausado. Conseguimos a concordância do procurador para um acordo. Estamos no aguardo do posicionamento dele para fazermos uma oferta -&gt; tentaremos tirar os juros e incluir o máximo de parcelas possíveis para o pagamento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6382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78EAD3-6D69-FF6A-7BD2-F72AEBAD64D4}"/>
              </a:ext>
            </a:extLst>
          </p:cNvPr>
          <p:cNvSpPr txBox="1"/>
          <p:nvPr/>
        </p:nvSpPr>
        <p:spPr>
          <a:xfrm>
            <a:off x="457199" y="365760"/>
            <a:ext cx="108639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Opções de Arrendamento - Talhão 27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E04C43-2F95-01D3-C6E1-C5A835532E53}"/>
              </a:ext>
            </a:extLst>
          </p:cNvPr>
          <p:cNvSpPr txBox="1"/>
          <p:nvPr/>
        </p:nvSpPr>
        <p:spPr>
          <a:xfrm>
            <a:off x="457199" y="868680"/>
            <a:ext cx="108639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Análise Comparativa das Alternativas (280 hectares)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A70B38-5116-BA0A-C3D2-C625E2C4D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622766"/>
              </p:ext>
            </p:extLst>
          </p:nvPr>
        </p:nvGraphicFramePr>
        <p:xfrm>
          <a:off x="457199" y="1463040"/>
          <a:ext cx="10863942" cy="5206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7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7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70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3033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rPr sz="1200" dirty="0" err="1"/>
                        <a:t>Critério</a:t>
                      </a:r>
                      <a:endParaRPr sz="1200" dirty="0"/>
                    </a:p>
                  </a:txBody>
                  <a:tcPr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424242"/>
                          </a:solidFill>
                        </a:defRPr>
                      </a:pP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Opção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A -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Manutenção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do Pasto para Uso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Nosso</a:t>
                      </a:r>
                      <a:endParaRPr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424242"/>
                          </a:solidFill>
                        </a:defRPr>
                      </a:pP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Opção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B -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Arrendar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para Pasto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nas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Águas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424242"/>
                          </a:solidFill>
                        </a:defRPr>
                      </a:pP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Opção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C -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Arrendar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para Agricultura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303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rPr sz="1200"/>
                        <a:t>Proposta</a:t>
                      </a:r>
                    </a:p>
                  </a:txBody>
                  <a:tcPr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rPr sz="1200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rPr sz="1200"/>
                        <a:t>R$60 cabeça/mês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rPr sz="1200"/>
                        <a:t>10 scs - 5 anos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245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rPr sz="1200"/>
                        <a:t>Pontos Positivos</a:t>
                      </a:r>
                    </a:p>
                  </a:txBody>
                  <a:tcPr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rPr sz="1200"/>
                        <a:t>• Utilizar o pasto para nosso gado</a:t>
                      </a:r>
                    </a:p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rPr sz="1200"/>
                        <a:t>• Continuar com folga de alimentação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rPr sz="1200"/>
                        <a:t>• Não mexer com infraestrutura de cercas e apenas monetizar área (igual Dênio)</a:t>
                      </a:r>
                    </a:p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rPr sz="1200"/>
                        <a:t>• Rentabilização mínima de área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rPr sz="1200"/>
                        <a:t>• Arrendar pastos para soja/capim - no mínimo manter fertilidade</a:t>
                      </a:r>
                    </a:p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rPr sz="1200"/>
                        <a:t>• Continuar rentabilização das nossas áreas</a:t>
                      </a:r>
                    </a:p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rPr sz="1200"/>
                        <a:t>• Parceiros (Vavá) não são os mais bem falados na região. Porém, topam dar garantia real - área de 50ha e também temos um contrato parrudo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303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rPr sz="1200"/>
                        <a:t>Pontos Negativos</a:t>
                      </a:r>
                    </a:p>
                  </a:txBody>
                  <a:tcPr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rPr sz="1200"/>
                        <a:t>• Baixa intensificação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rPr sz="1200"/>
                        <a:t>• Pasto continuaria perdendo fertilidade sem reposição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endParaRPr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303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rPr sz="1200"/>
                        <a:t>Receita Incremental em 12 Meses</a:t>
                      </a:r>
                    </a:p>
                  </a:txBody>
                  <a:tcPr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rPr sz="1200"/>
                        <a:t>R$ 0,00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rPr sz="1200"/>
                        <a:t>R$ 105.000,00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rPr sz="1200" dirty="0"/>
                        <a:t>R$ 308K </a:t>
                      </a:r>
                      <a:r>
                        <a:rPr sz="1200" dirty="0" err="1"/>
                        <a:t>em</a:t>
                      </a:r>
                      <a:r>
                        <a:rPr sz="1200" dirty="0"/>
                        <a:t> 12 meses</a:t>
                      </a:r>
                    </a:p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rPr sz="1200" dirty="0"/>
                        <a:t>R$ 1,5M no </a:t>
                      </a:r>
                      <a:r>
                        <a:rPr sz="1200" dirty="0" err="1"/>
                        <a:t>período</a:t>
                      </a:r>
                      <a:endParaRPr sz="1200" dirty="0"/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3825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309605"/>
            <a:ext cx="8454237" cy="438069"/>
          </a:xfrm>
          <a:prstGeom prst="rect">
            <a:avLst/>
          </a:prstGeom>
          <a:noFill/>
          <a:ln/>
        </p:spPr>
        <p:txBody>
          <a:bodyPr wrap="none" lIns="0" tIns="0" rIns="0" bIns="68072" rtlCol="0" anchor="ctr">
            <a:spAutoFit/>
          </a:bodyPr>
          <a:lstStyle/>
          <a:p>
            <a:r>
              <a:rPr lang="en-US" sz="2400" b="1" dirty="0">
                <a:solidFill>
                  <a:srgbClr val="2E8B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Proposta: Eliminação de Horas Extras e Banco de Horas</a:t>
            </a:r>
          </a:p>
        </p:txBody>
      </p:sp>
      <p:sp>
        <p:nvSpPr>
          <p:cNvPr id="4" name="Shape 1"/>
          <p:cNvSpPr/>
          <p:nvPr/>
        </p:nvSpPr>
        <p:spPr>
          <a:xfrm>
            <a:off x="428626" y="885825"/>
            <a:ext cx="11334751" cy="70008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428626" y="885825"/>
            <a:ext cx="38100" cy="70008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38225"/>
            <a:ext cx="118541" cy="152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6242" y="1028568"/>
            <a:ext cx="1186222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b="1" dirty="0">
                <a:solidFill>
                  <a:srgbClr val="C039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Problema Atual </a:t>
            </a:r>
            <a:endParaRPr lang="en-US" sz="1116" dirty="0"/>
          </a:p>
        </p:txBody>
      </p:sp>
      <p:sp>
        <p:nvSpPr>
          <p:cNvPr id="8" name="Text 4"/>
          <p:cNvSpPr/>
          <p:nvPr/>
        </p:nvSpPr>
        <p:spPr>
          <a:xfrm>
            <a:off x="571500" y="1307758"/>
            <a:ext cx="852798" cy="1395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90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 elevado:</a:t>
            </a:r>
            <a:endParaRPr lang="en-US" sz="907" dirty="0"/>
          </a:p>
        </p:txBody>
      </p:sp>
      <p:sp>
        <p:nvSpPr>
          <p:cNvPr id="9" name="Text 5"/>
          <p:cNvSpPr/>
          <p:nvPr/>
        </p:nvSpPr>
        <p:spPr>
          <a:xfrm>
            <a:off x="1473102" y="1307758"/>
            <a:ext cx="2962349" cy="1395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90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R$ 230.000 gastos com horas extras na última safra | </a:t>
            </a:r>
            <a:endParaRPr lang="en-US" sz="907" dirty="0"/>
          </a:p>
        </p:txBody>
      </p:sp>
      <p:sp>
        <p:nvSpPr>
          <p:cNvPr id="10" name="Text 6"/>
          <p:cNvSpPr/>
          <p:nvPr/>
        </p:nvSpPr>
        <p:spPr>
          <a:xfrm>
            <a:off x="4625207" y="1307758"/>
            <a:ext cx="1130118" cy="1395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90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Incentivo perverso:</a:t>
            </a:r>
            <a:endParaRPr lang="en-US" sz="907" dirty="0"/>
          </a:p>
        </p:txBody>
      </p:sp>
      <p:sp>
        <p:nvSpPr>
          <p:cNvPr id="11" name="Text 7"/>
          <p:cNvSpPr/>
          <p:nvPr/>
        </p:nvSpPr>
        <p:spPr>
          <a:xfrm>
            <a:off x="5824835" y="1307758"/>
            <a:ext cx="4082849" cy="1395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90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Funcionários tendem a demorar mais nas tarefas para gerar horas extras </a:t>
            </a:r>
            <a:endParaRPr lang="en-US" sz="907" dirty="0"/>
          </a:p>
        </p:txBody>
      </p:sp>
      <p:sp>
        <p:nvSpPr>
          <p:cNvPr id="12" name="Shape 8"/>
          <p:cNvSpPr/>
          <p:nvPr/>
        </p:nvSpPr>
        <p:spPr>
          <a:xfrm>
            <a:off x="428626" y="1728789"/>
            <a:ext cx="5595937" cy="346233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542926" y="1843088"/>
            <a:ext cx="5367337" cy="3810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542926" y="1856083"/>
            <a:ext cx="5367337" cy="355012"/>
          </a:xfrm>
          <a:prstGeom prst="rect">
            <a:avLst/>
          </a:prstGeom>
          <a:noFill/>
          <a:ln/>
        </p:spPr>
        <p:txBody>
          <a:bodyPr wrap="square" lIns="90763" tIns="90763" rIns="90763" bIns="90763" rtlCol="0" anchor="ctr">
            <a:spAutoFit/>
          </a:bodyPr>
          <a:lstStyle/>
          <a:p>
            <a:pPr algn="ctr"/>
            <a:r>
              <a:rPr lang="en-US" sz="11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Cenário Atual</a:t>
            </a:r>
            <a:endParaRPr lang="en-US" sz="1116" dirty="0"/>
          </a:p>
        </p:txBody>
      </p:sp>
      <p:sp>
        <p:nvSpPr>
          <p:cNvPr id="15" name="Shape 11"/>
          <p:cNvSpPr/>
          <p:nvPr/>
        </p:nvSpPr>
        <p:spPr>
          <a:xfrm>
            <a:off x="542925" y="2319338"/>
            <a:ext cx="1971899" cy="271463"/>
          </a:xfrm>
          <a:prstGeom prst="rect">
            <a:avLst/>
          </a:prstGeom>
          <a:solidFill>
            <a:srgbClr val="3BA5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/>
          <p:nvPr/>
        </p:nvSpPr>
        <p:spPr>
          <a:xfrm>
            <a:off x="542925" y="2327309"/>
            <a:ext cx="1971899" cy="255519"/>
          </a:xfrm>
          <a:prstGeom prst="rect">
            <a:avLst/>
          </a:prstGeom>
          <a:solidFill>
            <a:srgbClr val="3BA55C"/>
          </a:solidFill>
          <a:ln/>
        </p:spPr>
        <p:txBody>
          <a:bodyPr wrap="square" lIns="68072" tIns="68072" rIns="68072" bIns="68072" rtlCol="0" anchor="ctr">
            <a:spAutoFit/>
          </a:bodyPr>
          <a:lstStyle/>
          <a:p>
            <a:r>
              <a:rPr lang="en-US" sz="767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Período</a:t>
            </a:r>
            <a:endParaRPr lang="en-US" sz="767" dirty="0"/>
          </a:p>
        </p:txBody>
      </p:sp>
      <p:sp>
        <p:nvSpPr>
          <p:cNvPr id="17" name="Shape 13"/>
          <p:cNvSpPr/>
          <p:nvPr/>
        </p:nvSpPr>
        <p:spPr>
          <a:xfrm>
            <a:off x="2514823" y="2319338"/>
            <a:ext cx="1159892" cy="271463"/>
          </a:xfrm>
          <a:prstGeom prst="rect">
            <a:avLst/>
          </a:prstGeom>
          <a:solidFill>
            <a:srgbClr val="3BA5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/>
          <p:nvPr/>
        </p:nvSpPr>
        <p:spPr>
          <a:xfrm>
            <a:off x="2514823" y="2327309"/>
            <a:ext cx="1159892" cy="255519"/>
          </a:xfrm>
          <a:prstGeom prst="rect">
            <a:avLst/>
          </a:prstGeom>
          <a:solidFill>
            <a:srgbClr val="3BA55C"/>
          </a:solidFill>
          <a:ln/>
        </p:spPr>
        <p:txBody>
          <a:bodyPr wrap="square" lIns="68072" tIns="68072" rIns="68072" bIns="68072" rtlCol="0" anchor="ctr">
            <a:spAutoFit/>
          </a:bodyPr>
          <a:lstStyle/>
          <a:p>
            <a:r>
              <a:rPr lang="en-US" sz="767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Entrada</a:t>
            </a:r>
            <a:endParaRPr lang="en-US" sz="767" dirty="0"/>
          </a:p>
        </p:txBody>
      </p:sp>
      <p:sp>
        <p:nvSpPr>
          <p:cNvPr id="19" name="Shape 15"/>
          <p:cNvSpPr/>
          <p:nvPr/>
        </p:nvSpPr>
        <p:spPr>
          <a:xfrm>
            <a:off x="3674715" y="2319338"/>
            <a:ext cx="920576" cy="271463"/>
          </a:xfrm>
          <a:prstGeom prst="rect">
            <a:avLst/>
          </a:prstGeom>
          <a:solidFill>
            <a:srgbClr val="3BA5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6"/>
          <p:cNvSpPr/>
          <p:nvPr/>
        </p:nvSpPr>
        <p:spPr>
          <a:xfrm>
            <a:off x="3674715" y="2327309"/>
            <a:ext cx="920576" cy="255519"/>
          </a:xfrm>
          <a:prstGeom prst="rect">
            <a:avLst/>
          </a:prstGeom>
          <a:solidFill>
            <a:srgbClr val="3BA55C"/>
          </a:solidFill>
          <a:ln/>
        </p:spPr>
        <p:txBody>
          <a:bodyPr wrap="square" lIns="68072" tIns="68072" rIns="68072" bIns="68072" rtlCol="0" anchor="ctr">
            <a:spAutoFit/>
          </a:bodyPr>
          <a:lstStyle/>
          <a:p>
            <a:r>
              <a:rPr lang="en-US" sz="767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Saída</a:t>
            </a:r>
            <a:endParaRPr lang="en-US" sz="767" dirty="0"/>
          </a:p>
        </p:txBody>
      </p:sp>
      <p:sp>
        <p:nvSpPr>
          <p:cNvPr id="21" name="Shape 17"/>
          <p:cNvSpPr/>
          <p:nvPr/>
        </p:nvSpPr>
        <p:spPr>
          <a:xfrm>
            <a:off x="4595292" y="2319338"/>
            <a:ext cx="1314971" cy="271463"/>
          </a:xfrm>
          <a:prstGeom prst="rect">
            <a:avLst/>
          </a:prstGeom>
          <a:solidFill>
            <a:srgbClr val="3BA5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4595292" y="2327309"/>
            <a:ext cx="1314971" cy="255519"/>
          </a:xfrm>
          <a:prstGeom prst="rect">
            <a:avLst/>
          </a:prstGeom>
          <a:solidFill>
            <a:srgbClr val="3BA55C"/>
          </a:solidFill>
          <a:ln/>
        </p:spPr>
        <p:txBody>
          <a:bodyPr wrap="square" lIns="68072" tIns="68072" rIns="68072" bIns="68072" rtlCol="0" anchor="ctr">
            <a:spAutoFit/>
          </a:bodyPr>
          <a:lstStyle/>
          <a:p>
            <a:r>
              <a:rPr lang="en-US" sz="767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</a:t>
            </a:r>
            <a:endParaRPr lang="en-US" sz="767" dirty="0"/>
          </a:p>
        </p:txBody>
      </p:sp>
      <p:sp>
        <p:nvSpPr>
          <p:cNvPr id="23" name="Text 19"/>
          <p:cNvSpPr/>
          <p:nvPr/>
        </p:nvSpPr>
        <p:spPr>
          <a:xfrm>
            <a:off x="600075" y="2658551"/>
            <a:ext cx="315792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Manhã</a:t>
            </a:r>
            <a:endParaRPr lang="en-US" sz="837" dirty="0"/>
          </a:p>
        </p:txBody>
      </p:sp>
      <p:sp>
        <p:nvSpPr>
          <p:cNvPr id="24" name="Text 20"/>
          <p:cNvSpPr/>
          <p:nvPr/>
        </p:nvSpPr>
        <p:spPr>
          <a:xfrm>
            <a:off x="2514823" y="2604842"/>
            <a:ext cx="1159892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06:45</a:t>
            </a:r>
            <a:endParaRPr lang="en-US" sz="837" dirty="0"/>
          </a:p>
        </p:txBody>
      </p:sp>
      <p:sp>
        <p:nvSpPr>
          <p:cNvPr id="25" name="Text 21"/>
          <p:cNvSpPr/>
          <p:nvPr/>
        </p:nvSpPr>
        <p:spPr>
          <a:xfrm>
            <a:off x="3674715" y="2604842"/>
            <a:ext cx="920576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11:00</a:t>
            </a:r>
            <a:endParaRPr lang="en-US" sz="837" dirty="0"/>
          </a:p>
        </p:txBody>
      </p:sp>
      <p:sp>
        <p:nvSpPr>
          <p:cNvPr id="26" name="Text 22"/>
          <p:cNvSpPr/>
          <p:nvPr/>
        </p:nvSpPr>
        <p:spPr>
          <a:xfrm>
            <a:off x="4595292" y="2604842"/>
            <a:ext cx="1314971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4:15:00</a:t>
            </a:r>
            <a:endParaRPr lang="en-US" sz="837" dirty="0"/>
          </a:p>
        </p:txBody>
      </p:sp>
      <p:sp>
        <p:nvSpPr>
          <p:cNvPr id="27" name="Text 23"/>
          <p:cNvSpPr/>
          <p:nvPr/>
        </p:nvSpPr>
        <p:spPr>
          <a:xfrm>
            <a:off x="600075" y="2934776"/>
            <a:ext cx="256480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Tarde</a:t>
            </a:r>
            <a:endParaRPr lang="en-US" sz="837" dirty="0"/>
          </a:p>
        </p:txBody>
      </p:sp>
      <p:sp>
        <p:nvSpPr>
          <p:cNvPr id="28" name="Text 24"/>
          <p:cNvSpPr/>
          <p:nvPr/>
        </p:nvSpPr>
        <p:spPr>
          <a:xfrm>
            <a:off x="2514823" y="2878686"/>
            <a:ext cx="1159892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12:00</a:t>
            </a:r>
            <a:endParaRPr lang="en-US" sz="837" dirty="0"/>
          </a:p>
        </p:txBody>
      </p:sp>
      <p:sp>
        <p:nvSpPr>
          <p:cNvPr id="29" name="Text 25"/>
          <p:cNvSpPr/>
          <p:nvPr/>
        </p:nvSpPr>
        <p:spPr>
          <a:xfrm>
            <a:off x="3674715" y="2878686"/>
            <a:ext cx="920576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17:00</a:t>
            </a:r>
            <a:endParaRPr lang="en-US" sz="837" dirty="0"/>
          </a:p>
        </p:txBody>
      </p:sp>
      <p:sp>
        <p:nvSpPr>
          <p:cNvPr id="30" name="Text 26"/>
          <p:cNvSpPr/>
          <p:nvPr/>
        </p:nvSpPr>
        <p:spPr>
          <a:xfrm>
            <a:off x="4595292" y="2878686"/>
            <a:ext cx="1314971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5:00:00</a:t>
            </a:r>
            <a:endParaRPr lang="en-US" sz="837" dirty="0"/>
          </a:p>
        </p:txBody>
      </p:sp>
      <p:sp>
        <p:nvSpPr>
          <p:cNvPr id="31" name="Text 27"/>
          <p:cNvSpPr/>
          <p:nvPr/>
        </p:nvSpPr>
        <p:spPr>
          <a:xfrm>
            <a:off x="600075" y="3211001"/>
            <a:ext cx="395942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Dia</a:t>
            </a:r>
            <a:endParaRPr lang="en-US" sz="837" dirty="0"/>
          </a:p>
        </p:txBody>
      </p:sp>
      <p:sp>
        <p:nvSpPr>
          <p:cNvPr id="32" name="Text 28"/>
          <p:cNvSpPr/>
          <p:nvPr/>
        </p:nvSpPr>
        <p:spPr>
          <a:xfrm>
            <a:off x="4595292" y="3154911"/>
            <a:ext cx="1314971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9:15:00</a:t>
            </a:r>
            <a:endParaRPr lang="en-US" sz="837" dirty="0"/>
          </a:p>
        </p:txBody>
      </p:sp>
      <p:sp>
        <p:nvSpPr>
          <p:cNvPr id="33" name="Text 29"/>
          <p:cNvSpPr/>
          <p:nvPr/>
        </p:nvSpPr>
        <p:spPr>
          <a:xfrm>
            <a:off x="600076" y="3487225"/>
            <a:ext cx="500137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5 dias úteis</a:t>
            </a:r>
            <a:endParaRPr lang="en-US" sz="837" dirty="0"/>
          </a:p>
        </p:txBody>
      </p:sp>
      <p:sp>
        <p:nvSpPr>
          <p:cNvPr id="34" name="Text 30"/>
          <p:cNvSpPr/>
          <p:nvPr/>
        </p:nvSpPr>
        <p:spPr>
          <a:xfrm>
            <a:off x="4595292" y="3431135"/>
            <a:ext cx="1314971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46:15:00</a:t>
            </a:r>
            <a:endParaRPr lang="en-US" sz="837" dirty="0"/>
          </a:p>
        </p:txBody>
      </p:sp>
      <p:sp>
        <p:nvSpPr>
          <p:cNvPr id="35" name="Text 31"/>
          <p:cNvSpPr/>
          <p:nvPr/>
        </p:nvSpPr>
        <p:spPr>
          <a:xfrm>
            <a:off x="600075" y="3763451"/>
            <a:ext cx="330219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Sábado</a:t>
            </a:r>
            <a:endParaRPr lang="en-US" sz="837" dirty="0"/>
          </a:p>
        </p:txBody>
      </p:sp>
      <p:sp>
        <p:nvSpPr>
          <p:cNvPr id="36" name="Text 32"/>
          <p:cNvSpPr/>
          <p:nvPr/>
        </p:nvSpPr>
        <p:spPr>
          <a:xfrm>
            <a:off x="2514823" y="3707360"/>
            <a:ext cx="1159892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06:45</a:t>
            </a:r>
            <a:endParaRPr lang="en-US" sz="837" dirty="0"/>
          </a:p>
        </p:txBody>
      </p:sp>
      <p:sp>
        <p:nvSpPr>
          <p:cNvPr id="37" name="Text 33"/>
          <p:cNvSpPr/>
          <p:nvPr/>
        </p:nvSpPr>
        <p:spPr>
          <a:xfrm>
            <a:off x="3674715" y="3707360"/>
            <a:ext cx="920576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11:00</a:t>
            </a:r>
            <a:endParaRPr lang="en-US" sz="837" dirty="0"/>
          </a:p>
        </p:txBody>
      </p:sp>
      <p:sp>
        <p:nvSpPr>
          <p:cNvPr id="38" name="Text 34"/>
          <p:cNvSpPr/>
          <p:nvPr/>
        </p:nvSpPr>
        <p:spPr>
          <a:xfrm>
            <a:off x="4595292" y="3707360"/>
            <a:ext cx="1314971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4:15:00</a:t>
            </a:r>
            <a:endParaRPr lang="en-US" sz="837" dirty="0"/>
          </a:p>
        </p:txBody>
      </p:sp>
      <p:sp>
        <p:nvSpPr>
          <p:cNvPr id="39" name="Text 35"/>
          <p:cNvSpPr/>
          <p:nvPr/>
        </p:nvSpPr>
        <p:spPr>
          <a:xfrm>
            <a:off x="600076" y="4039676"/>
            <a:ext cx="605935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Semana</a:t>
            </a:r>
            <a:endParaRPr lang="en-US" sz="837" dirty="0"/>
          </a:p>
        </p:txBody>
      </p:sp>
      <p:sp>
        <p:nvSpPr>
          <p:cNvPr id="40" name="Text 36"/>
          <p:cNvSpPr/>
          <p:nvPr/>
        </p:nvSpPr>
        <p:spPr>
          <a:xfrm>
            <a:off x="4595292" y="3983586"/>
            <a:ext cx="1314971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50:30:00</a:t>
            </a:r>
            <a:endParaRPr lang="en-US" sz="837" dirty="0"/>
          </a:p>
        </p:txBody>
      </p:sp>
      <p:sp>
        <p:nvSpPr>
          <p:cNvPr id="41" name="Text 37"/>
          <p:cNvSpPr/>
          <p:nvPr/>
        </p:nvSpPr>
        <p:spPr>
          <a:xfrm>
            <a:off x="600075" y="4315901"/>
            <a:ext cx="599523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Carga horária</a:t>
            </a:r>
            <a:endParaRPr lang="en-US" sz="837" dirty="0"/>
          </a:p>
        </p:txBody>
      </p:sp>
      <p:sp>
        <p:nvSpPr>
          <p:cNvPr id="42" name="Text 38"/>
          <p:cNvSpPr/>
          <p:nvPr/>
        </p:nvSpPr>
        <p:spPr>
          <a:xfrm>
            <a:off x="4595292" y="4259811"/>
            <a:ext cx="1314971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44:00:00</a:t>
            </a:r>
            <a:endParaRPr lang="en-US" sz="837" dirty="0"/>
          </a:p>
        </p:txBody>
      </p:sp>
      <p:sp>
        <p:nvSpPr>
          <p:cNvPr id="43" name="Shape 39"/>
          <p:cNvSpPr/>
          <p:nvPr/>
        </p:nvSpPr>
        <p:spPr>
          <a:xfrm>
            <a:off x="542926" y="4519613"/>
            <a:ext cx="5367337" cy="276225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0"/>
          <p:cNvSpPr/>
          <p:nvPr/>
        </p:nvSpPr>
        <p:spPr>
          <a:xfrm>
            <a:off x="600076" y="4592125"/>
            <a:ext cx="500137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HE Semana</a:t>
            </a:r>
            <a:endParaRPr lang="en-US" sz="837" dirty="0"/>
          </a:p>
        </p:txBody>
      </p:sp>
      <p:sp>
        <p:nvSpPr>
          <p:cNvPr id="45" name="Text 41"/>
          <p:cNvSpPr/>
          <p:nvPr/>
        </p:nvSpPr>
        <p:spPr>
          <a:xfrm>
            <a:off x="4595292" y="4536035"/>
            <a:ext cx="1314971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6:30:00</a:t>
            </a:r>
            <a:endParaRPr lang="en-US" sz="837" dirty="0"/>
          </a:p>
        </p:txBody>
      </p:sp>
      <p:sp>
        <p:nvSpPr>
          <p:cNvPr id="46" name="Shape 42"/>
          <p:cNvSpPr/>
          <p:nvPr/>
        </p:nvSpPr>
        <p:spPr>
          <a:xfrm>
            <a:off x="542926" y="4795838"/>
            <a:ext cx="5367337" cy="276225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3"/>
          <p:cNvSpPr/>
          <p:nvPr/>
        </p:nvSpPr>
        <p:spPr>
          <a:xfrm>
            <a:off x="600076" y="4868351"/>
            <a:ext cx="336631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HE Mês</a:t>
            </a:r>
            <a:endParaRPr lang="en-US" sz="837" dirty="0"/>
          </a:p>
        </p:txBody>
      </p:sp>
      <p:sp>
        <p:nvSpPr>
          <p:cNvPr id="48" name="Text 44"/>
          <p:cNvSpPr/>
          <p:nvPr/>
        </p:nvSpPr>
        <p:spPr>
          <a:xfrm>
            <a:off x="4595292" y="4812260"/>
            <a:ext cx="1314971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27:37:30</a:t>
            </a:r>
            <a:endParaRPr lang="en-US" sz="837" dirty="0"/>
          </a:p>
        </p:txBody>
      </p:sp>
      <p:sp>
        <p:nvSpPr>
          <p:cNvPr id="49" name="Shape 45"/>
          <p:cNvSpPr/>
          <p:nvPr/>
        </p:nvSpPr>
        <p:spPr>
          <a:xfrm>
            <a:off x="6167438" y="1728789"/>
            <a:ext cx="5595937" cy="346233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Shape 46"/>
          <p:cNvSpPr/>
          <p:nvPr/>
        </p:nvSpPr>
        <p:spPr>
          <a:xfrm>
            <a:off x="6281738" y="1843088"/>
            <a:ext cx="5367337" cy="3810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7"/>
          <p:cNvSpPr/>
          <p:nvPr/>
        </p:nvSpPr>
        <p:spPr>
          <a:xfrm>
            <a:off x="6281738" y="1856083"/>
            <a:ext cx="5367337" cy="355012"/>
          </a:xfrm>
          <a:prstGeom prst="rect">
            <a:avLst/>
          </a:prstGeom>
          <a:noFill/>
          <a:ln/>
        </p:spPr>
        <p:txBody>
          <a:bodyPr wrap="square" lIns="90763" tIns="90763" rIns="90763" bIns="90763" rtlCol="0" anchor="ctr">
            <a:spAutoFit/>
          </a:bodyPr>
          <a:lstStyle/>
          <a:p>
            <a:pPr algn="ctr"/>
            <a:r>
              <a:rPr lang="en-US" sz="11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Proposta</a:t>
            </a:r>
            <a:endParaRPr lang="en-US" sz="1116" dirty="0"/>
          </a:p>
        </p:txBody>
      </p:sp>
      <p:sp>
        <p:nvSpPr>
          <p:cNvPr id="52" name="Shape 48"/>
          <p:cNvSpPr/>
          <p:nvPr/>
        </p:nvSpPr>
        <p:spPr>
          <a:xfrm>
            <a:off x="6281738" y="2319338"/>
            <a:ext cx="1982613" cy="271463"/>
          </a:xfrm>
          <a:prstGeom prst="rect">
            <a:avLst/>
          </a:prstGeom>
          <a:solidFill>
            <a:srgbClr val="3BA5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49"/>
          <p:cNvSpPr/>
          <p:nvPr/>
        </p:nvSpPr>
        <p:spPr>
          <a:xfrm>
            <a:off x="6281738" y="2327309"/>
            <a:ext cx="1982613" cy="255519"/>
          </a:xfrm>
          <a:prstGeom prst="rect">
            <a:avLst/>
          </a:prstGeom>
          <a:solidFill>
            <a:srgbClr val="3BA55C"/>
          </a:solidFill>
          <a:ln/>
        </p:spPr>
        <p:txBody>
          <a:bodyPr wrap="square" lIns="68072" tIns="68072" rIns="68072" bIns="68072" rtlCol="0" anchor="ctr">
            <a:spAutoFit/>
          </a:bodyPr>
          <a:lstStyle/>
          <a:p>
            <a:r>
              <a:rPr lang="en-US" sz="767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Período</a:t>
            </a:r>
            <a:endParaRPr lang="en-US" sz="767" dirty="0"/>
          </a:p>
        </p:txBody>
      </p:sp>
      <p:sp>
        <p:nvSpPr>
          <p:cNvPr id="54" name="Shape 50"/>
          <p:cNvSpPr/>
          <p:nvPr/>
        </p:nvSpPr>
        <p:spPr>
          <a:xfrm>
            <a:off x="8264353" y="2319338"/>
            <a:ext cx="1166180" cy="271463"/>
          </a:xfrm>
          <a:prstGeom prst="rect">
            <a:avLst/>
          </a:prstGeom>
          <a:solidFill>
            <a:srgbClr val="3BA5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1"/>
          <p:cNvSpPr/>
          <p:nvPr/>
        </p:nvSpPr>
        <p:spPr>
          <a:xfrm>
            <a:off x="8264353" y="2327309"/>
            <a:ext cx="1166180" cy="255519"/>
          </a:xfrm>
          <a:prstGeom prst="rect">
            <a:avLst/>
          </a:prstGeom>
          <a:solidFill>
            <a:srgbClr val="3BA55C"/>
          </a:solidFill>
          <a:ln/>
        </p:spPr>
        <p:txBody>
          <a:bodyPr wrap="square" lIns="68072" tIns="68072" rIns="68072" bIns="68072" rtlCol="0" anchor="ctr">
            <a:spAutoFit/>
          </a:bodyPr>
          <a:lstStyle/>
          <a:p>
            <a:r>
              <a:rPr lang="en-US" sz="767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Entrada</a:t>
            </a:r>
            <a:endParaRPr lang="en-US" sz="767" dirty="0"/>
          </a:p>
        </p:txBody>
      </p:sp>
      <p:sp>
        <p:nvSpPr>
          <p:cNvPr id="56" name="Shape 52"/>
          <p:cNvSpPr/>
          <p:nvPr/>
        </p:nvSpPr>
        <p:spPr>
          <a:xfrm>
            <a:off x="9430532" y="2319338"/>
            <a:ext cx="925563" cy="271463"/>
          </a:xfrm>
          <a:prstGeom prst="rect">
            <a:avLst/>
          </a:prstGeom>
          <a:solidFill>
            <a:srgbClr val="3BA5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53"/>
          <p:cNvSpPr/>
          <p:nvPr/>
        </p:nvSpPr>
        <p:spPr>
          <a:xfrm>
            <a:off x="9430532" y="2327309"/>
            <a:ext cx="925563" cy="255519"/>
          </a:xfrm>
          <a:prstGeom prst="rect">
            <a:avLst/>
          </a:prstGeom>
          <a:solidFill>
            <a:srgbClr val="3BA55C"/>
          </a:solidFill>
          <a:ln/>
        </p:spPr>
        <p:txBody>
          <a:bodyPr wrap="square" lIns="68072" tIns="68072" rIns="68072" bIns="68072" rtlCol="0" anchor="ctr">
            <a:spAutoFit/>
          </a:bodyPr>
          <a:lstStyle/>
          <a:p>
            <a:r>
              <a:rPr lang="en-US" sz="767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Saída</a:t>
            </a:r>
            <a:endParaRPr lang="en-US" sz="767" dirty="0"/>
          </a:p>
        </p:txBody>
      </p:sp>
      <p:sp>
        <p:nvSpPr>
          <p:cNvPr id="58" name="Shape 54"/>
          <p:cNvSpPr/>
          <p:nvPr/>
        </p:nvSpPr>
        <p:spPr>
          <a:xfrm>
            <a:off x="10356094" y="2319338"/>
            <a:ext cx="1292981" cy="271463"/>
          </a:xfrm>
          <a:prstGeom prst="rect">
            <a:avLst/>
          </a:prstGeom>
          <a:solidFill>
            <a:srgbClr val="3BA5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Text 55"/>
          <p:cNvSpPr/>
          <p:nvPr/>
        </p:nvSpPr>
        <p:spPr>
          <a:xfrm>
            <a:off x="10356094" y="2327309"/>
            <a:ext cx="1292981" cy="255519"/>
          </a:xfrm>
          <a:prstGeom prst="rect">
            <a:avLst/>
          </a:prstGeom>
          <a:solidFill>
            <a:srgbClr val="3BA55C"/>
          </a:solidFill>
          <a:ln/>
        </p:spPr>
        <p:txBody>
          <a:bodyPr wrap="square" lIns="68072" tIns="68072" rIns="68072" bIns="68072" rtlCol="0" anchor="ctr">
            <a:spAutoFit/>
          </a:bodyPr>
          <a:lstStyle/>
          <a:p>
            <a:r>
              <a:rPr lang="en-US" sz="767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</a:t>
            </a:r>
            <a:endParaRPr lang="en-US" sz="767" dirty="0"/>
          </a:p>
        </p:txBody>
      </p:sp>
      <p:sp>
        <p:nvSpPr>
          <p:cNvPr id="60" name="Text 56"/>
          <p:cNvSpPr/>
          <p:nvPr/>
        </p:nvSpPr>
        <p:spPr>
          <a:xfrm>
            <a:off x="6338888" y="2658551"/>
            <a:ext cx="315792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Manhã</a:t>
            </a:r>
            <a:endParaRPr lang="en-US" sz="837" dirty="0"/>
          </a:p>
        </p:txBody>
      </p:sp>
      <p:sp>
        <p:nvSpPr>
          <p:cNvPr id="61" name="Text 57"/>
          <p:cNvSpPr/>
          <p:nvPr/>
        </p:nvSpPr>
        <p:spPr>
          <a:xfrm>
            <a:off x="8264353" y="2604842"/>
            <a:ext cx="1166180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07:10</a:t>
            </a:r>
            <a:endParaRPr lang="en-US" sz="837" dirty="0"/>
          </a:p>
        </p:txBody>
      </p:sp>
      <p:sp>
        <p:nvSpPr>
          <p:cNvPr id="62" name="Text 58"/>
          <p:cNvSpPr/>
          <p:nvPr/>
        </p:nvSpPr>
        <p:spPr>
          <a:xfrm>
            <a:off x="9430532" y="2604842"/>
            <a:ext cx="925563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11:00</a:t>
            </a:r>
            <a:endParaRPr lang="en-US" sz="837" dirty="0"/>
          </a:p>
        </p:txBody>
      </p:sp>
      <p:sp>
        <p:nvSpPr>
          <p:cNvPr id="63" name="Text 59"/>
          <p:cNvSpPr/>
          <p:nvPr/>
        </p:nvSpPr>
        <p:spPr>
          <a:xfrm>
            <a:off x="10356094" y="2604842"/>
            <a:ext cx="1292981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3:50:00</a:t>
            </a:r>
            <a:endParaRPr lang="en-US" sz="837" dirty="0"/>
          </a:p>
        </p:txBody>
      </p:sp>
      <p:sp>
        <p:nvSpPr>
          <p:cNvPr id="64" name="Text 60"/>
          <p:cNvSpPr/>
          <p:nvPr/>
        </p:nvSpPr>
        <p:spPr>
          <a:xfrm>
            <a:off x="6338888" y="2934776"/>
            <a:ext cx="256480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Tarde</a:t>
            </a:r>
            <a:endParaRPr lang="en-US" sz="837" dirty="0"/>
          </a:p>
        </p:txBody>
      </p:sp>
      <p:sp>
        <p:nvSpPr>
          <p:cNvPr id="65" name="Text 61"/>
          <p:cNvSpPr/>
          <p:nvPr/>
        </p:nvSpPr>
        <p:spPr>
          <a:xfrm>
            <a:off x="8264353" y="2878686"/>
            <a:ext cx="1166180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12:00</a:t>
            </a:r>
            <a:endParaRPr lang="en-US" sz="837" dirty="0"/>
          </a:p>
        </p:txBody>
      </p:sp>
      <p:sp>
        <p:nvSpPr>
          <p:cNvPr id="66" name="Text 62"/>
          <p:cNvSpPr/>
          <p:nvPr/>
        </p:nvSpPr>
        <p:spPr>
          <a:xfrm>
            <a:off x="9430532" y="2878686"/>
            <a:ext cx="925563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17:00</a:t>
            </a:r>
            <a:endParaRPr lang="en-US" sz="837" dirty="0"/>
          </a:p>
        </p:txBody>
      </p:sp>
      <p:sp>
        <p:nvSpPr>
          <p:cNvPr id="67" name="Text 63"/>
          <p:cNvSpPr/>
          <p:nvPr/>
        </p:nvSpPr>
        <p:spPr>
          <a:xfrm>
            <a:off x="10356094" y="2878686"/>
            <a:ext cx="1292981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5:00:00</a:t>
            </a:r>
            <a:endParaRPr lang="en-US" sz="837" dirty="0"/>
          </a:p>
        </p:txBody>
      </p:sp>
      <p:sp>
        <p:nvSpPr>
          <p:cNvPr id="68" name="Text 64"/>
          <p:cNvSpPr/>
          <p:nvPr/>
        </p:nvSpPr>
        <p:spPr>
          <a:xfrm>
            <a:off x="6338888" y="3211001"/>
            <a:ext cx="395942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Dia</a:t>
            </a:r>
            <a:endParaRPr lang="en-US" sz="837" dirty="0"/>
          </a:p>
        </p:txBody>
      </p:sp>
      <p:sp>
        <p:nvSpPr>
          <p:cNvPr id="69" name="Text 65"/>
          <p:cNvSpPr/>
          <p:nvPr/>
        </p:nvSpPr>
        <p:spPr>
          <a:xfrm>
            <a:off x="10356094" y="3154911"/>
            <a:ext cx="1292981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8:50:00</a:t>
            </a:r>
            <a:endParaRPr lang="en-US" sz="837" dirty="0"/>
          </a:p>
        </p:txBody>
      </p:sp>
      <p:sp>
        <p:nvSpPr>
          <p:cNvPr id="70" name="Text 66"/>
          <p:cNvSpPr/>
          <p:nvPr/>
        </p:nvSpPr>
        <p:spPr>
          <a:xfrm>
            <a:off x="6338889" y="3487225"/>
            <a:ext cx="500137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5 dias úteis</a:t>
            </a:r>
            <a:endParaRPr lang="en-US" sz="837" dirty="0"/>
          </a:p>
        </p:txBody>
      </p:sp>
      <p:sp>
        <p:nvSpPr>
          <p:cNvPr id="71" name="Text 67"/>
          <p:cNvSpPr/>
          <p:nvPr/>
        </p:nvSpPr>
        <p:spPr>
          <a:xfrm>
            <a:off x="10356094" y="3431135"/>
            <a:ext cx="1292981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44:10:00</a:t>
            </a:r>
            <a:endParaRPr lang="en-US" sz="837" dirty="0"/>
          </a:p>
        </p:txBody>
      </p:sp>
      <p:sp>
        <p:nvSpPr>
          <p:cNvPr id="72" name="Text 68"/>
          <p:cNvSpPr/>
          <p:nvPr/>
        </p:nvSpPr>
        <p:spPr>
          <a:xfrm>
            <a:off x="6338889" y="3763451"/>
            <a:ext cx="330219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Sábado</a:t>
            </a:r>
            <a:endParaRPr lang="en-US" sz="837" dirty="0"/>
          </a:p>
        </p:txBody>
      </p:sp>
      <p:sp>
        <p:nvSpPr>
          <p:cNvPr id="73" name="Text 69"/>
          <p:cNvSpPr/>
          <p:nvPr/>
        </p:nvSpPr>
        <p:spPr>
          <a:xfrm>
            <a:off x="8264353" y="3707360"/>
            <a:ext cx="3384724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pPr algn="ctr"/>
            <a:r>
              <a:rPr lang="en-US" sz="837" b="1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</a:t>
            </a:r>
            <a:endParaRPr lang="en-US" sz="837" dirty="0"/>
          </a:p>
        </p:txBody>
      </p:sp>
      <p:sp>
        <p:nvSpPr>
          <p:cNvPr id="74" name="Text 70"/>
          <p:cNvSpPr/>
          <p:nvPr/>
        </p:nvSpPr>
        <p:spPr>
          <a:xfrm>
            <a:off x="6338889" y="4039676"/>
            <a:ext cx="605935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Semana</a:t>
            </a:r>
            <a:endParaRPr lang="en-US" sz="837" dirty="0"/>
          </a:p>
        </p:txBody>
      </p:sp>
      <p:sp>
        <p:nvSpPr>
          <p:cNvPr id="75" name="Text 71"/>
          <p:cNvSpPr/>
          <p:nvPr/>
        </p:nvSpPr>
        <p:spPr>
          <a:xfrm>
            <a:off x="10356094" y="3983586"/>
            <a:ext cx="1292981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44:10:00</a:t>
            </a:r>
            <a:endParaRPr lang="en-US" sz="837" dirty="0"/>
          </a:p>
        </p:txBody>
      </p:sp>
      <p:sp>
        <p:nvSpPr>
          <p:cNvPr id="76" name="Text 72"/>
          <p:cNvSpPr/>
          <p:nvPr/>
        </p:nvSpPr>
        <p:spPr>
          <a:xfrm>
            <a:off x="6338889" y="4315901"/>
            <a:ext cx="599523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Carga horária</a:t>
            </a:r>
            <a:endParaRPr lang="en-US" sz="837" dirty="0"/>
          </a:p>
        </p:txBody>
      </p:sp>
      <p:sp>
        <p:nvSpPr>
          <p:cNvPr id="77" name="Text 73"/>
          <p:cNvSpPr/>
          <p:nvPr/>
        </p:nvSpPr>
        <p:spPr>
          <a:xfrm>
            <a:off x="10356094" y="4259811"/>
            <a:ext cx="1292981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44:00:00</a:t>
            </a:r>
            <a:endParaRPr lang="en-US" sz="837" dirty="0"/>
          </a:p>
        </p:txBody>
      </p:sp>
      <p:sp>
        <p:nvSpPr>
          <p:cNvPr id="78" name="Shape 74"/>
          <p:cNvSpPr/>
          <p:nvPr/>
        </p:nvSpPr>
        <p:spPr>
          <a:xfrm>
            <a:off x="6281738" y="4519613"/>
            <a:ext cx="5367337" cy="276225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9" name="Text 75"/>
          <p:cNvSpPr/>
          <p:nvPr/>
        </p:nvSpPr>
        <p:spPr>
          <a:xfrm>
            <a:off x="6338889" y="4592125"/>
            <a:ext cx="500137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HE Semana</a:t>
            </a:r>
            <a:endParaRPr lang="en-US" sz="837" dirty="0"/>
          </a:p>
        </p:txBody>
      </p:sp>
      <p:sp>
        <p:nvSpPr>
          <p:cNvPr id="80" name="Text 76"/>
          <p:cNvSpPr/>
          <p:nvPr/>
        </p:nvSpPr>
        <p:spPr>
          <a:xfrm>
            <a:off x="10356094" y="4536035"/>
            <a:ext cx="1292981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0:10:00</a:t>
            </a:r>
            <a:endParaRPr lang="en-US" sz="837" dirty="0"/>
          </a:p>
        </p:txBody>
      </p:sp>
      <p:sp>
        <p:nvSpPr>
          <p:cNvPr id="81" name="Shape 77"/>
          <p:cNvSpPr/>
          <p:nvPr/>
        </p:nvSpPr>
        <p:spPr>
          <a:xfrm>
            <a:off x="6281738" y="4795838"/>
            <a:ext cx="5367337" cy="276225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2" name="Text 78"/>
          <p:cNvSpPr/>
          <p:nvPr/>
        </p:nvSpPr>
        <p:spPr>
          <a:xfrm>
            <a:off x="6338889" y="4868351"/>
            <a:ext cx="336631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HE Mês</a:t>
            </a:r>
            <a:endParaRPr lang="en-US" sz="837" dirty="0"/>
          </a:p>
        </p:txBody>
      </p:sp>
      <p:sp>
        <p:nvSpPr>
          <p:cNvPr id="83" name="Text 79"/>
          <p:cNvSpPr/>
          <p:nvPr/>
        </p:nvSpPr>
        <p:spPr>
          <a:xfrm>
            <a:off x="10356094" y="4812260"/>
            <a:ext cx="1292981" cy="243380"/>
          </a:xfrm>
          <a:prstGeom prst="rect">
            <a:avLst/>
          </a:prstGeom>
          <a:noFill/>
          <a:ln/>
        </p:spPr>
        <p:txBody>
          <a:bodyPr wrap="square" lIns="68072" tIns="56727" rIns="68072" bIns="56727" rtlCol="0" anchor="ctr">
            <a:spAutoFit/>
          </a:bodyPr>
          <a:lstStyle/>
          <a:p>
            <a:r>
              <a:rPr lang="en-US" sz="837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0:42:30</a:t>
            </a:r>
            <a:endParaRPr lang="en-US" sz="837" dirty="0"/>
          </a:p>
        </p:txBody>
      </p:sp>
      <p:sp>
        <p:nvSpPr>
          <p:cNvPr id="84" name="Shape 80"/>
          <p:cNvSpPr/>
          <p:nvPr/>
        </p:nvSpPr>
        <p:spPr>
          <a:xfrm>
            <a:off x="428626" y="5334000"/>
            <a:ext cx="11334751" cy="1371600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5" name="Shape 81"/>
          <p:cNvSpPr/>
          <p:nvPr/>
        </p:nvSpPr>
        <p:spPr>
          <a:xfrm>
            <a:off x="428626" y="5334000"/>
            <a:ext cx="38100" cy="1371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86400"/>
            <a:ext cx="118541" cy="152400"/>
          </a:xfrm>
          <a:prstGeom prst="rect">
            <a:avLst/>
          </a:prstGeom>
        </p:spPr>
      </p:pic>
      <p:sp>
        <p:nvSpPr>
          <p:cNvPr id="87" name="Text 82"/>
          <p:cNvSpPr/>
          <p:nvPr/>
        </p:nvSpPr>
        <p:spPr>
          <a:xfrm>
            <a:off x="766242" y="5476743"/>
            <a:ext cx="1700787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b="1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Benefícios da Proposta </a:t>
            </a:r>
            <a:endParaRPr lang="en-US" sz="1116" dirty="0"/>
          </a:p>
        </p:txBody>
      </p:sp>
      <p:sp>
        <p:nvSpPr>
          <p:cNvPr id="88" name="Text 83"/>
          <p:cNvSpPr/>
          <p:nvPr/>
        </p:nvSpPr>
        <p:spPr>
          <a:xfrm>
            <a:off x="742952" y="5773225"/>
            <a:ext cx="1410643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Entrada 25min mais tarde:</a:t>
            </a:r>
            <a:endParaRPr lang="en-US" sz="837" dirty="0"/>
          </a:p>
        </p:txBody>
      </p:sp>
      <p:sp>
        <p:nvSpPr>
          <p:cNvPr id="89" name="Text 84"/>
          <p:cNvSpPr/>
          <p:nvPr/>
        </p:nvSpPr>
        <p:spPr>
          <a:xfrm>
            <a:off x="2247492" y="5773225"/>
            <a:ext cx="2043829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Garantir que todos iniciem no horário | </a:t>
            </a:r>
            <a:endParaRPr lang="en-US" sz="837" dirty="0"/>
          </a:p>
        </p:txBody>
      </p:sp>
      <p:sp>
        <p:nvSpPr>
          <p:cNvPr id="90" name="Text 85"/>
          <p:cNvSpPr/>
          <p:nvPr/>
        </p:nvSpPr>
        <p:spPr>
          <a:xfrm>
            <a:off x="4422986" y="5773225"/>
            <a:ext cx="1606209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Padronização de 1h de almoço</a:t>
            </a:r>
            <a:endParaRPr lang="en-US" sz="837" dirty="0"/>
          </a:p>
        </p:txBody>
      </p:sp>
      <p:sp>
        <p:nvSpPr>
          <p:cNvPr id="91" name="Text 86"/>
          <p:cNvSpPr/>
          <p:nvPr/>
        </p:nvSpPr>
        <p:spPr>
          <a:xfrm>
            <a:off x="742951" y="5982775"/>
            <a:ext cx="1279196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Ajuste de carga horária:</a:t>
            </a:r>
            <a:endParaRPr lang="en-US" sz="837" dirty="0"/>
          </a:p>
        </p:txBody>
      </p:sp>
      <p:sp>
        <p:nvSpPr>
          <p:cNvPr id="92" name="Text 87"/>
          <p:cNvSpPr/>
          <p:nvPr/>
        </p:nvSpPr>
        <p:spPr>
          <a:xfrm>
            <a:off x="2107593" y="5982775"/>
            <a:ext cx="2066271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Compensar sábado durante a semana | </a:t>
            </a:r>
            <a:endParaRPr lang="en-US" sz="837" dirty="0"/>
          </a:p>
        </p:txBody>
      </p:sp>
      <p:sp>
        <p:nvSpPr>
          <p:cNvPr id="93" name="Text 88"/>
          <p:cNvSpPr/>
          <p:nvPr/>
        </p:nvSpPr>
        <p:spPr>
          <a:xfrm>
            <a:off x="4306529" y="5982775"/>
            <a:ext cx="618759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Sábado OFF</a:t>
            </a:r>
            <a:endParaRPr lang="en-US" sz="837" dirty="0"/>
          </a:p>
        </p:txBody>
      </p:sp>
      <p:sp>
        <p:nvSpPr>
          <p:cNvPr id="94" name="Text 89"/>
          <p:cNvSpPr/>
          <p:nvPr/>
        </p:nvSpPr>
        <p:spPr>
          <a:xfrm>
            <a:off x="742951" y="6192325"/>
            <a:ext cx="945772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Eliminação de HE:</a:t>
            </a:r>
            <a:endParaRPr lang="en-US" sz="837" dirty="0"/>
          </a:p>
        </p:txBody>
      </p:sp>
      <p:sp>
        <p:nvSpPr>
          <p:cNvPr id="95" name="Text 90"/>
          <p:cNvSpPr/>
          <p:nvPr/>
        </p:nvSpPr>
        <p:spPr>
          <a:xfrm>
            <a:off x="1749847" y="6192325"/>
            <a:ext cx="2239396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Redução de 27h37min para 0h42min/mês | </a:t>
            </a:r>
            <a:endParaRPr lang="en-US" sz="837" dirty="0"/>
          </a:p>
        </p:txBody>
      </p:sp>
      <p:sp>
        <p:nvSpPr>
          <p:cNvPr id="96" name="Text 91"/>
          <p:cNvSpPr/>
          <p:nvPr/>
        </p:nvSpPr>
        <p:spPr>
          <a:xfrm>
            <a:off x="4145272" y="6192325"/>
            <a:ext cx="1240724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Economia: R$ 230K/ano</a:t>
            </a:r>
            <a:endParaRPr lang="en-US" sz="837" dirty="0"/>
          </a:p>
        </p:txBody>
      </p:sp>
      <p:sp>
        <p:nvSpPr>
          <p:cNvPr id="97" name="Text 92"/>
          <p:cNvSpPr/>
          <p:nvPr/>
        </p:nvSpPr>
        <p:spPr>
          <a:xfrm>
            <a:off x="742951" y="6401875"/>
            <a:ext cx="849592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Banco de horas:</a:t>
            </a:r>
            <a:endParaRPr lang="en-US" sz="837" dirty="0"/>
          </a:p>
        </p:txBody>
      </p:sp>
      <p:sp>
        <p:nvSpPr>
          <p:cNvPr id="98" name="Text 93"/>
          <p:cNvSpPr/>
          <p:nvPr/>
        </p:nvSpPr>
        <p:spPr>
          <a:xfrm>
            <a:off x="1646636" y="6401875"/>
            <a:ext cx="1889941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Flexibilidade sem custos adicionais | </a:t>
            </a:r>
            <a:endParaRPr lang="en-US" sz="837" dirty="0"/>
          </a:p>
        </p:txBody>
      </p:sp>
      <p:sp>
        <p:nvSpPr>
          <p:cNvPr id="99" name="Text 94"/>
          <p:cNvSpPr/>
          <p:nvPr/>
        </p:nvSpPr>
        <p:spPr>
          <a:xfrm>
            <a:off x="3664745" y="6401875"/>
            <a:ext cx="1420261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Elimina incentivo perverso</a:t>
            </a:r>
            <a:endParaRPr lang="en-US" sz="83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0938D5-6482-54A7-B997-B4246569EC4D}"/>
              </a:ext>
            </a:extLst>
          </p:cNvPr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 de Bonificação 2024/5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657F55-436E-D5A0-D2A2-0627347CBB29}"/>
              </a:ext>
            </a:extLst>
          </p:cNvPr>
          <p:cNvSpPr txBox="1"/>
          <p:nvPr/>
        </p:nvSpPr>
        <p:spPr>
          <a:xfrm>
            <a:off x="457200" y="86868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Resultados Atingidos e Aprovação de Pagamento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BF6F50-E8D9-54BA-57B7-1E1DC1BC2825}"/>
              </a:ext>
            </a:extLst>
          </p:cNvPr>
          <p:cNvSpPr txBox="1"/>
          <p:nvPr/>
        </p:nvSpPr>
        <p:spPr>
          <a:xfrm>
            <a:off x="2144486" y="1463040"/>
            <a:ext cx="3840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Regras de Bonificação Acordadas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F00C96-DE7F-17AE-0665-AE33AB7DC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749774"/>
              </p:ext>
            </p:extLst>
          </p:nvPr>
        </p:nvGraphicFramePr>
        <p:xfrm>
          <a:off x="2144486" y="1920240"/>
          <a:ext cx="3840480" cy="23556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Agricultura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(sacos soja/ha)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Pecuária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(arrobas/ha)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Bonificação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(salários)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24242"/>
                          </a:solidFill>
                        </a:defRPr>
                      </a:pPr>
                      <a:r>
                        <a:t>0-7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24242"/>
                          </a:solidFill>
                        </a:defRPr>
                      </a:pPr>
                      <a:r>
                        <a:t>0-1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24242"/>
                          </a:solidFill>
                        </a:defRPr>
                      </a:pPr>
                      <a:r>
                        <a:t>7-12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24242"/>
                          </a:solidFill>
                        </a:defRPr>
                      </a:pPr>
                      <a:r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24242"/>
                          </a:solidFill>
                        </a:defRPr>
                      </a:pPr>
                      <a:r>
                        <a:t>12-15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24242"/>
                          </a:solidFill>
                        </a:defRPr>
                      </a:pPr>
                      <a:r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24242"/>
                          </a:solidFill>
                        </a:defRPr>
                      </a:pPr>
                      <a:r>
                        <a:t>15-20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24242"/>
                          </a:solidFill>
                        </a:defRPr>
                      </a:pPr>
                      <a:r>
                        <a:t>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24242"/>
                          </a:solidFill>
                        </a:defRPr>
                      </a:pPr>
                      <a:r>
                        <a:t>20-25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24242"/>
                          </a:solidFill>
                        </a:defRPr>
                      </a:pPr>
                      <a:r>
                        <a:t>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24242"/>
                          </a:solidFill>
                        </a:defRPr>
                      </a:pPr>
                      <a:r>
                        <a:t>&gt;25 scs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24242"/>
                          </a:solidFill>
                        </a:defRPr>
                      </a:pPr>
                      <a:r>
                        <a:t>&gt;5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749210E-70D7-3933-0D66-CC87A823DAAE}"/>
              </a:ext>
            </a:extLst>
          </p:cNvPr>
          <p:cNvSpPr txBox="1"/>
          <p:nvPr/>
        </p:nvSpPr>
        <p:spPr>
          <a:xfrm>
            <a:off x="6442166" y="1463040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Resultados Atingidos em 2024/5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FED2E5-16D2-CA4D-06DC-92760634C1EA}"/>
              </a:ext>
            </a:extLst>
          </p:cNvPr>
          <p:cNvSpPr/>
          <p:nvPr/>
        </p:nvSpPr>
        <p:spPr>
          <a:xfrm>
            <a:off x="6442166" y="1920240"/>
            <a:ext cx="3931920" cy="228600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2E7D32"/>
                </a:solidFill>
              </a:defRPr>
            </a:pPr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🌾 Agricultura</a:t>
            </a:r>
          </a:p>
          <a:p>
            <a:pPr>
              <a:spcAft>
                <a:spcPts val="400"/>
              </a:spcAft>
              <a:defRPr sz="1100">
                <a:solidFill>
                  <a:srgbClr val="424242"/>
                </a:solidFill>
              </a:defRPr>
            </a:pPr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Produtividade: 14,9 sc/ha</a:t>
            </a:r>
          </a:p>
          <a:p>
            <a:pPr>
              <a:spcAft>
                <a:spcPts val="400"/>
              </a:spcAft>
              <a:defRPr sz="1100">
                <a:solidFill>
                  <a:srgbClr val="424242"/>
                </a:solidFill>
              </a:defRPr>
            </a:pPr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Faixa atingida: 12-15 sc/ha</a:t>
            </a:r>
          </a:p>
          <a:p>
            <a:pPr>
              <a:spcAft>
                <a:spcPts val="1600"/>
              </a:spcAft>
              <a:defRPr sz="1200" b="1">
                <a:solidFill>
                  <a:srgbClr val="2E7D32"/>
                </a:solidFill>
              </a:defRPr>
            </a:pPr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Bonificação: 2 salários ✓</a:t>
            </a:r>
          </a:p>
          <a:p>
            <a:pPr>
              <a:spcAft>
                <a:spcPts val="800"/>
              </a:spcAft>
              <a:defRPr sz="1300" b="1">
                <a:solidFill>
                  <a:srgbClr val="2E7D32"/>
                </a:solidFill>
              </a:defRPr>
            </a:pPr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🐄 Pecuária</a:t>
            </a:r>
          </a:p>
          <a:p>
            <a:pPr>
              <a:spcAft>
                <a:spcPts val="400"/>
              </a:spcAft>
              <a:defRPr sz="1100">
                <a:solidFill>
                  <a:srgbClr val="424242"/>
                </a:solidFill>
              </a:defRPr>
            </a:pPr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Produtividade: 2,0 @/ha</a:t>
            </a:r>
          </a:p>
          <a:p>
            <a:pPr>
              <a:spcAft>
                <a:spcPts val="400"/>
              </a:spcAft>
              <a:defRPr sz="1100">
                <a:solidFill>
                  <a:srgbClr val="424242"/>
                </a:solidFill>
              </a:defRPr>
            </a:pPr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Faixa atingida: 2-3 @/ha</a:t>
            </a:r>
          </a:p>
          <a:p>
            <a:pPr>
              <a:defRPr sz="1200" b="1">
                <a:solidFill>
                  <a:srgbClr val="2E7D32"/>
                </a:solidFill>
              </a:defRPr>
            </a:pPr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Bonificação: 2 salários 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CA4BB9-0A88-07E8-C3B5-E3FA17062648}"/>
              </a:ext>
            </a:extLst>
          </p:cNvPr>
          <p:cNvSpPr txBox="1"/>
          <p:nvPr/>
        </p:nvSpPr>
        <p:spPr>
          <a:xfrm>
            <a:off x="2144486" y="457200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 de Pagamento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120B42-6240-8842-9886-3A8659A4B776}"/>
              </a:ext>
            </a:extLst>
          </p:cNvPr>
          <p:cNvSpPr/>
          <p:nvPr/>
        </p:nvSpPr>
        <p:spPr>
          <a:xfrm>
            <a:off x="2144486" y="5029200"/>
            <a:ext cx="8229600" cy="1371600"/>
          </a:xfrm>
          <a:prstGeom prst="rect">
            <a:avLst/>
          </a:prstGeom>
          <a:solidFill>
            <a:srgbClr val="FFF9C4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F57C00"/>
                </a:solidFill>
              </a:defRPr>
            </a:pPr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💰 Custo Total Estimado: R$ 400.000,00</a:t>
            </a:r>
          </a:p>
          <a:p>
            <a:pPr>
              <a:spcAft>
                <a:spcPts val="1200"/>
              </a:spcAft>
              <a:defRPr sz="1400" b="1">
                <a:solidFill>
                  <a:srgbClr val="424242"/>
                </a:solidFill>
              </a:defRPr>
            </a:pPr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📅 Período de Pagamento Proposto: Novembro ou Dezembro de 2024</a:t>
            </a:r>
          </a:p>
          <a:p>
            <a:pPr>
              <a:defRPr sz="1200">
                <a:solidFill>
                  <a:srgbClr val="424242"/>
                </a:solidFill>
              </a:defRPr>
            </a:pPr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 Solicitamos aprovação do conselho para efetuar o pagamento da bonificação conforme regras acordadas</a:t>
            </a:r>
          </a:p>
        </p:txBody>
      </p:sp>
    </p:spTree>
    <p:extLst>
      <p:ext uri="{BB962C8B-B14F-4D97-AF65-F5344CB8AC3E}">
        <p14:creationId xmlns:p14="http://schemas.microsoft.com/office/powerpoint/2010/main" val="1202165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9133</TotalTime>
  <Words>1928</Words>
  <Application>Microsoft Office PowerPoint</Application>
  <PresentationFormat>Widescreen</PresentationFormat>
  <Paragraphs>416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Play</vt:lpstr>
      <vt:lpstr>Noto Sans</vt:lpstr>
      <vt:lpstr>Calibri</vt:lpstr>
      <vt:lpstr>Inter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Estratégia para rentabilidade</dc:title>
  <dc:creator>Lucas Rossi</dc:creator>
  <cp:lastModifiedBy>Lucas Menegueti Rossi</cp:lastModifiedBy>
  <cp:revision>29</cp:revision>
  <dcterms:created xsi:type="dcterms:W3CDTF">2025-02-17T13:49:03Z</dcterms:created>
  <dcterms:modified xsi:type="dcterms:W3CDTF">2026-01-06T10:22:27Z</dcterms:modified>
</cp:coreProperties>
</file>